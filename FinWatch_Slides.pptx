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72A"/>
                </a:solidFill>
                <a:latin typeface="Arial"/>
              </a:defRPr>
            </a:pPr>
            <a:r>
              <a:rPr sz="1200" b="0" i="0" u="none" strike="noStrike">
                <a:solidFill>
                  <a:srgbClr val="0F172A"/>
                </a:solidFill>
                <a:latin typeface="Arial"/>
              </a:rPr>
              <a:t>Pipeline lag tại các mức tải</a:t>
            </a:r>
          </a:p>
        </c:rich>
      </c:tx>
      <c:layout/>
      <c:overlay val="0"/>
    </c:title>
    <c:autoTitleDeleted val="0"/>
    <c:plotArea>
      <c:layout/>
      <c:barChart>
        <c:barDir val="col"/>
        <c:grouping val="clustered"/>
        <c:varyColors val="0"/>
        <c:ser>
          <c:idx val="0"/>
          <c:order val="0"/>
          <c:tx>
            <c:strRef>
              <c:f>Sheet1!$B$1</c:f>
              <c:strCache>
                <c:ptCount val="1"/>
                <c:pt idx="0">
                  <c:v>Pipeline lag (ms)</c:v>
                </c:pt>
              </c:strCache>
            </c:strRef>
          </c:tx>
          <c:spPr>
            <a:solidFill>
              <a:srgbClr val="0D9488"/>
            </a:solidFill>
            <a:effectLst/>
          </c:spPr>
          <c:invertIfNegative val="0"/>
          <c:dLbls>
            <c:numFmt formatCode="#,##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cat>
            <c:multiLvlStrRef>
              <c:f>Sheet1!$A$2:$A$7</c:f>
              <c:multiLvlStrCache>
                <c:ptCount val="6"/>
                <c:lvl>
                  <c:pt idx="0">
                    <c:v>100 TPS</c:v>
                  </c:pt>
                  <c:pt idx="1">
                    <c:v>300 TPS</c:v>
                  </c:pt>
                  <c:pt idx="2">
                    <c:v>500 TPS</c:v>
                  </c:pt>
                  <c:pt idx="3">
                    <c:v>700 TPS</c:v>
                  </c:pt>
                  <c:pt idx="4">
                    <c:v>900 TPS</c:v>
                  </c:pt>
                  <c:pt idx="5">
                    <c:v>1100 TPS</c:v>
                  </c:pt>
                </c:lvl>
              </c:multiLvlStrCache>
            </c:multiLvlStrRef>
          </c:cat>
          <c:val>
            <c:numRef>
              <c:f>Sheet1!$B$2:$B$7</c:f>
              <c:numCache>
                <c:formatCode>General</c:formatCode>
                <c:ptCount val="6"/>
                <c:pt idx="0">
                  <c:v>180</c:v>
                </c:pt>
                <c:pt idx="1">
                  <c:v>450</c:v>
                </c:pt>
                <c:pt idx="2">
                  <c:v>950</c:v>
                </c:pt>
                <c:pt idx="3">
                  <c:v>1800</c:v>
                </c:pt>
                <c:pt idx="4">
                  <c:v>3200</c:v>
                </c:pt>
                <c:pt idx="5">
                  <c:v>8500</c:v>
                </c:pt>
              </c:numCache>
            </c:numRef>
          </c:val>
        </c:ser>
        <c:dLbls>
          <c:numFmt formatCode="#,##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8686800" y="0"/>
            <a:ext cx="3502152" cy="6858000"/>
          </a:xfrm>
          <a:prstGeom prst="rect">
            <a:avLst/>
          </a:prstGeom>
          <a:solidFill>
            <a:srgbClr val="0D9488">
              <a:alpha val="20000"/>
            </a:srgbClr>
          </a:solidFill>
          <a:ln/>
        </p:spPr>
      </p:sp>
      <p:sp>
        <p:nvSpPr>
          <p:cNvPr id="3" name="Shape 1"/>
          <p:cNvSpPr/>
          <p:nvPr/>
        </p:nvSpPr>
        <p:spPr>
          <a:xfrm>
            <a:off x="11430000" y="0"/>
            <a:ext cx="758952" cy="6858000"/>
          </a:xfrm>
          <a:prstGeom prst="rect">
            <a:avLst/>
          </a:prstGeom>
          <a:solidFill>
            <a:srgbClr val="0D9488">
              <a:alpha val="40000"/>
            </a:srgbClr>
          </a:solidFill>
          <a:ln/>
        </p:spPr>
      </p:sp>
      <p:sp>
        <p:nvSpPr>
          <p:cNvPr id="4" name="Text 2"/>
          <p:cNvSpPr/>
          <p:nvPr/>
        </p:nvSpPr>
        <p:spPr>
          <a:xfrm>
            <a:off x="731520" y="1554480"/>
            <a:ext cx="7315200" cy="365760"/>
          </a:xfrm>
          <a:prstGeom prst="rect">
            <a:avLst/>
          </a:prstGeom>
          <a:noFill/>
          <a:ln/>
        </p:spPr>
        <p:txBody>
          <a:bodyPr wrap="square" rtlCol="0" anchor="ctr"/>
          <a:lstStyle/>
          <a:p>
            <a:pPr indent="0" marL="0">
              <a:buNone/>
            </a:pPr>
            <a:r>
              <a:rPr lang="en-US" sz="1400" b="1" spc="800" kern="0" dirty="0">
                <a:solidFill>
                  <a:srgbClr val="0D9488"/>
                </a:solidFill>
                <a:latin typeface="Calibri" pitchFamily="34" charset="0"/>
                <a:ea typeface="Calibri" pitchFamily="34" charset="-122"/>
                <a:cs typeface="Calibri" pitchFamily="34" charset="-120"/>
              </a:rPr>
              <a:t>ĐỒ ÁN TỐT NGHIỆP</a:t>
            </a:r>
            <a:endParaRPr lang="en-US" sz="1400" dirty="0"/>
          </a:p>
        </p:txBody>
      </p:sp>
      <p:sp>
        <p:nvSpPr>
          <p:cNvPr id="5" name="Text 3"/>
          <p:cNvSpPr/>
          <p:nvPr/>
        </p:nvSpPr>
        <p:spPr>
          <a:xfrm>
            <a:off x="731520" y="2011680"/>
            <a:ext cx="8229600" cy="1097280"/>
          </a:xfrm>
          <a:prstGeom prst="rect">
            <a:avLst/>
          </a:prstGeom>
          <a:noFill/>
          <a:ln/>
        </p:spPr>
        <p:txBody>
          <a:bodyPr wrap="square" rtlCol="0" anchor="ctr"/>
          <a:lstStyle/>
          <a:p>
            <a:pPr indent="0" marL="0">
              <a:buNone/>
            </a:pPr>
            <a:r>
              <a:rPr lang="en-US" sz="7200" b="1" dirty="0">
                <a:solidFill>
                  <a:srgbClr val="F8FAFC"/>
                </a:solidFill>
                <a:latin typeface="Calibri" pitchFamily="34" charset="0"/>
                <a:ea typeface="Calibri" pitchFamily="34" charset="-122"/>
                <a:cs typeface="Calibri" pitchFamily="34" charset="-120"/>
              </a:rPr>
              <a:t>FinWatch</a:t>
            </a:r>
            <a:endParaRPr lang="en-US" sz="7200" dirty="0"/>
          </a:p>
        </p:txBody>
      </p:sp>
      <p:sp>
        <p:nvSpPr>
          <p:cNvPr id="6" name="Text 4"/>
          <p:cNvSpPr/>
          <p:nvPr/>
        </p:nvSpPr>
        <p:spPr>
          <a:xfrm>
            <a:off x="731520" y="3200400"/>
            <a:ext cx="10058400" cy="457200"/>
          </a:xfrm>
          <a:prstGeom prst="rect">
            <a:avLst/>
          </a:prstGeom>
          <a:noFill/>
          <a:ln/>
        </p:spPr>
        <p:txBody>
          <a:bodyPr wrap="square" rtlCol="0" anchor="ctr"/>
          <a:lstStyle/>
          <a:p>
            <a:pPr indent="0" marL="0">
              <a:buNone/>
            </a:pPr>
            <a:r>
              <a:rPr lang="en-US" sz="2200" dirty="0">
                <a:solidFill>
                  <a:srgbClr val="F8FAFC"/>
                </a:solidFill>
                <a:latin typeface="Calibri" pitchFamily="34" charset="0"/>
                <a:ea typeface="Calibri" pitchFamily="34" charset="-122"/>
                <a:cs typeface="Calibri" pitchFamily="34" charset="-120"/>
              </a:rPr>
              <a:t>Hệ thống giám sát giao dịch tài chính thời gian thực</a:t>
            </a:r>
            <a:endParaRPr lang="en-US" sz="2200" dirty="0"/>
          </a:p>
        </p:txBody>
      </p:sp>
      <p:sp>
        <p:nvSpPr>
          <p:cNvPr id="7" name="Text 5"/>
          <p:cNvSpPr/>
          <p:nvPr/>
        </p:nvSpPr>
        <p:spPr>
          <a:xfrm>
            <a:off x="731520" y="3703320"/>
            <a:ext cx="10058400" cy="365760"/>
          </a:xfrm>
          <a:prstGeom prst="rect">
            <a:avLst/>
          </a:prstGeom>
          <a:noFill/>
          <a:ln/>
        </p:spPr>
        <p:txBody>
          <a:bodyPr wrap="square"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Kiến trúc Change Data Capture với PostgreSQL · Debezium · Kafka · ClickHouse</a:t>
            </a:r>
            <a:endParaRPr lang="en-US" sz="1400" dirty="0"/>
          </a:p>
        </p:txBody>
      </p:sp>
      <p:sp>
        <p:nvSpPr>
          <p:cNvPr id="8" name="Shape 6"/>
          <p:cNvSpPr/>
          <p:nvPr/>
        </p:nvSpPr>
        <p:spPr>
          <a:xfrm>
            <a:off x="731520" y="4389120"/>
            <a:ext cx="1371600" cy="36576"/>
          </a:xfrm>
          <a:prstGeom prst="rect">
            <a:avLst/>
          </a:prstGeom>
          <a:solidFill>
            <a:srgbClr val="0D9488"/>
          </a:solidFill>
          <a:ln/>
        </p:spPr>
      </p:sp>
      <p:sp>
        <p:nvSpPr>
          <p:cNvPr id="9" name="Text 7"/>
          <p:cNvSpPr/>
          <p:nvPr/>
        </p:nvSpPr>
        <p:spPr>
          <a:xfrm>
            <a:off x="731520" y="4754880"/>
            <a:ext cx="10058400" cy="1371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Sinh viên thực hiện:  </a:t>
            </a:r>
            <a:pPr indent="0" marL="0">
              <a:buNone/>
            </a:pPr>
            <a:r>
              <a:rPr lang="en-US" sz="1400" b="1" dirty="0">
                <a:solidFill>
                  <a:srgbClr val="F8FAFC"/>
                </a:solidFill>
                <a:latin typeface="Calibri" pitchFamily="34" charset="0"/>
                <a:ea typeface="Calibri" pitchFamily="34" charset="-122"/>
                <a:cs typeface="Calibri" pitchFamily="34" charset="-120"/>
              </a:rPr>
              <a:t>Bùi Hoàng Nhân</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MSV:  </a:t>
            </a:r>
            <a:pPr indent="0" marL="0">
              <a:buNone/>
            </a:pPr>
            <a:r>
              <a:rPr lang="en-US" sz="1400" b="1" dirty="0">
                <a:solidFill>
                  <a:srgbClr val="F8FAFC"/>
                </a:solidFill>
                <a:latin typeface="Calibri" pitchFamily="34" charset="0"/>
                <a:ea typeface="Calibri" pitchFamily="34" charset="-122"/>
                <a:cs typeface="Calibri" pitchFamily="34" charset="-120"/>
              </a:rPr>
              <a:t>21040009</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Giảng viên hướng dẫn:  </a:t>
            </a:r>
            <a:pPr indent="0" marL="0">
              <a:buNone/>
            </a:pPr>
            <a:r>
              <a:rPr lang="en-US" sz="1400" b="1" dirty="0">
                <a:solidFill>
                  <a:srgbClr val="F8FAFC"/>
                </a:solidFill>
                <a:latin typeface="Calibri" pitchFamily="34" charset="0"/>
                <a:ea typeface="Calibri" pitchFamily="34" charset="-122"/>
                <a:cs typeface="Calibri" pitchFamily="34" charset="-120"/>
              </a:rPr>
              <a:t>Trần Thế Vũ</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Đơn vị:  </a:t>
            </a:r>
            <a:pPr indent="0" marL="0">
              <a:buNone/>
            </a:pPr>
            <a:r>
              <a:rPr lang="en-US" sz="1400" dirty="0">
                <a:solidFill>
                  <a:srgbClr val="F8FAFC"/>
                </a:solidFill>
                <a:latin typeface="Calibri" pitchFamily="34" charset="0"/>
                <a:ea typeface="Calibri" pitchFamily="34" charset="-122"/>
                <a:cs typeface="Calibri" pitchFamily="34" charset="-120"/>
              </a:rPr>
              <a:t>Viện Nghiên cứu và Đào tạo Việt - Anh, Đại học Đà Nẵng</a:t>
            </a:r>
            <a:endParaRPr lang="en-US" sz="1200" dirty="0"/>
          </a:p>
        </p:txBody>
      </p:sp>
      <p:sp>
        <p:nvSpPr>
          <p:cNvPr id="10" name="Text 8"/>
          <p:cNvSpPr/>
          <p:nvPr/>
        </p:nvSpPr>
        <p:spPr>
          <a:xfrm>
            <a:off x="731520" y="6400800"/>
            <a:ext cx="54864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Tháng 6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Nội dung trình bày</a:t>
            </a:r>
            <a:endParaRPr lang="en-US" sz="3200" dirty="0"/>
          </a:p>
        </p:txBody>
      </p:sp>
      <p:sp>
        <p:nvSpPr>
          <p:cNvPr id="4" name="Text 2"/>
          <p:cNvSpPr/>
          <p:nvPr/>
        </p:nvSpPr>
        <p:spPr>
          <a:xfrm>
            <a:off x="548640" y="1051560"/>
            <a:ext cx="10972800" cy="27432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Agenda · 15 phút</a:t>
            </a:r>
            <a:endParaRPr lang="en-US" sz="1400" dirty="0"/>
          </a:p>
        </p:txBody>
      </p:sp>
      <p:sp>
        <p:nvSpPr>
          <p:cNvPr id="5" name="Shape 3"/>
          <p:cNvSpPr/>
          <p:nvPr/>
        </p:nvSpPr>
        <p:spPr>
          <a:xfrm>
            <a:off x="731520" y="1691640"/>
            <a:ext cx="640080" cy="640080"/>
          </a:xfrm>
          <a:prstGeom prst="ellipse">
            <a:avLst/>
          </a:prstGeom>
          <a:solidFill>
            <a:srgbClr val="E11D48"/>
          </a:solidFill>
          <a:ln/>
        </p:spPr>
      </p:sp>
      <p:sp>
        <p:nvSpPr>
          <p:cNvPr id="6" name="Text 4"/>
          <p:cNvSpPr/>
          <p:nvPr/>
        </p:nvSpPr>
        <p:spPr>
          <a:xfrm>
            <a:off x="731520" y="1691640"/>
            <a:ext cx="640080" cy="640080"/>
          </a:xfrm>
          <a:prstGeom prst="rect">
            <a:avLst/>
          </a:prstGeom>
          <a:noFill/>
          <a:ln/>
        </p:spPr>
        <p:txBody>
          <a:bodyPr wrap="square" lIns="0" tIns="0" rIns="0" bIns="0" rtlCol="0" anchor="ctr"/>
          <a:lstStyle/>
          <a:p>
            <a:pPr algn="ctr" indent="0" marL="0">
              <a:buNone/>
            </a:pPr>
            <a:r>
              <a:rPr lang="en-US" sz="1800" b="1" dirty="0">
                <a:solidFill>
                  <a:srgbClr val="F8FAFC"/>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1645920" y="1691640"/>
            <a:ext cx="6400800" cy="36576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Bài toán</a:t>
            </a:r>
            <a:endParaRPr lang="en-US" sz="2000" dirty="0"/>
          </a:p>
        </p:txBody>
      </p:sp>
      <p:sp>
        <p:nvSpPr>
          <p:cNvPr id="8" name="Text 6"/>
          <p:cNvSpPr/>
          <p:nvPr/>
        </p:nvSpPr>
        <p:spPr>
          <a:xfrm>
            <a:off x="1645920" y="2057400"/>
            <a:ext cx="6400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Vì sao cần giám sát giao dịch real-time?</a:t>
            </a:r>
            <a:endParaRPr lang="en-US" sz="1200" dirty="0"/>
          </a:p>
        </p:txBody>
      </p:sp>
      <p:sp>
        <p:nvSpPr>
          <p:cNvPr id="9" name="Text 7"/>
          <p:cNvSpPr/>
          <p:nvPr/>
        </p:nvSpPr>
        <p:spPr>
          <a:xfrm>
            <a:off x="10058400" y="1828800"/>
            <a:ext cx="1371600" cy="365760"/>
          </a:xfrm>
          <a:prstGeom prst="rect">
            <a:avLst/>
          </a:prstGeom>
          <a:noFill/>
          <a:ln/>
        </p:spPr>
        <p:txBody>
          <a:bodyPr wrap="square" rtlCol="0" anchor="ctr"/>
          <a:lstStyle/>
          <a:p>
            <a:pPr algn="r" indent="0" marL="0">
              <a:buNone/>
            </a:pPr>
            <a:r>
              <a:rPr lang="en-US" sz="1300" b="1" dirty="0">
                <a:solidFill>
                  <a:srgbClr val="E11D48"/>
                </a:solidFill>
                <a:latin typeface="Calibri" pitchFamily="34" charset="0"/>
                <a:ea typeface="Calibri" pitchFamily="34" charset="-122"/>
                <a:cs typeface="Calibri" pitchFamily="34" charset="-120"/>
              </a:rPr>
              <a:t>2 phút</a:t>
            </a:r>
            <a:endParaRPr lang="en-US" sz="1300" dirty="0"/>
          </a:p>
        </p:txBody>
      </p:sp>
      <p:sp>
        <p:nvSpPr>
          <p:cNvPr id="10" name="Shape 8"/>
          <p:cNvSpPr/>
          <p:nvPr/>
        </p:nvSpPr>
        <p:spPr>
          <a:xfrm>
            <a:off x="731520" y="2560320"/>
            <a:ext cx="640080" cy="640080"/>
          </a:xfrm>
          <a:prstGeom prst="ellipse">
            <a:avLst/>
          </a:prstGeom>
          <a:solidFill>
            <a:srgbClr val="1E40AF"/>
          </a:solidFill>
          <a:ln/>
        </p:spPr>
      </p:sp>
      <p:sp>
        <p:nvSpPr>
          <p:cNvPr id="11" name="Text 9"/>
          <p:cNvSpPr/>
          <p:nvPr/>
        </p:nvSpPr>
        <p:spPr>
          <a:xfrm>
            <a:off x="731520" y="2560320"/>
            <a:ext cx="640080" cy="640080"/>
          </a:xfrm>
          <a:prstGeom prst="rect">
            <a:avLst/>
          </a:prstGeom>
          <a:noFill/>
          <a:ln/>
        </p:spPr>
        <p:txBody>
          <a:bodyPr wrap="square" lIns="0" tIns="0" rIns="0" bIns="0" rtlCol="0" anchor="ctr"/>
          <a:lstStyle/>
          <a:p>
            <a:pPr algn="ctr" indent="0" marL="0">
              <a:buNone/>
            </a:pPr>
            <a:r>
              <a:rPr lang="en-US" sz="1800" b="1" dirty="0">
                <a:solidFill>
                  <a:srgbClr val="F8FAFC"/>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1645920" y="2560320"/>
            <a:ext cx="6400800" cy="36576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Kiến trúc</a:t>
            </a:r>
            <a:endParaRPr lang="en-US" sz="2000" dirty="0"/>
          </a:p>
        </p:txBody>
      </p:sp>
      <p:sp>
        <p:nvSpPr>
          <p:cNvPr id="13" name="Text 11"/>
          <p:cNvSpPr/>
          <p:nvPr/>
        </p:nvSpPr>
        <p:spPr>
          <a:xfrm>
            <a:off x="1645920" y="2926080"/>
            <a:ext cx="6400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PostgreSQL → Debezium → Kafka → ClickHouse → Grafana</a:t>
            </a:r>
            <a:endParaRPr lang="en-US" sz="1200" dirty="0"/>
          </a:p>
        </p:txBody>
      </p:sp>
      <p:sp>
        <p:nvSpPr>
          <p:cNvPr id="14" name="Text 12"/>
          <p:cNvSpPr/>
          <p:nvPr/>
        </p:nvSpPr>
        <p:spPr>
          <a:xfrm>
            <a:off x="10058400" y="2697480"/>
            <a:ext cx="1371600" cy="365760"/>
          </a:xfrm>
          <a:prstGeom prst="rect">
            <a:avLst/>
          </a:prstGeom>
          <a:noFill/>
          <a:ln/>
        </p:spPr>
        <p:txBody>
          <a:bodyPr wrap="square" rtlCol="0" anchor="ctr"/>
          <a:lstStyle/>
          <a:p>
            <a:pPr algn="r" indent="0" marL="0">
              <a:buNone/>
            </a:pPr>
            <a:r>
              <a:rPr lang="en-US" sz="1300" b="1" dirty="0">
                <a:solidFill>
                  <a:srgbClr val="1E40AF"/>
                </a:solidFill>
                <a:latin typeface="Calibri" pitchFamily="34" charset="0"/>
                <a:ea typeface="Calibri" pitchFamily="34" charset="-122"/>
                <a:cs typeface="Calibri" pitchFamily="34" charset="-120"/>
              </a:rPr>
              <a:t>3 phút</a:t>
            </a:r>
            <a:endParaRPr lang="en-US" sz="1300" dirty="0"/>
          </a:p>
        </p:txBody>
      </p:sp>
      <p:sp>
        <p:nvSpPr>
          <p:cNvPr id="15" name="Shape 13"/>
          <p:cNvSpPr/>
          <p:nvPr/>
        </p:nvSpPr>
        <p:spPr>
          <a:xfrm>
            <a:off x="731520" y="3429000"/>
            <a:ext cx="640080" cy="640080"/>
          </a:xfrm>
          <a:prstGeom prst="ellipse">
            <a:avLst/>
          </a:prstGeom>
          <a:solidFill>
            <a:srgbClr val="0D9488"/>
          </a:solidFill>
          <a:ln/>
        </p:spPr>
      </p:sp>
      <p:sp>
        <p:nvSpPr>
          <p:cNvPr id="16" name="Text 14"/>
          <p:cNvSpPr/>
          <p:nvPr/>
        </p:nvSpPr>
        <p:spPr>
          <a:xfrm>
            <a:off x="731520" y="3429000"/>
            <a:ext cx="640080" cy="640080"/>
          </a:xfrm>
          <a:prstGeom prst="rect">
            <a:avLst/>
          </a:prstGeom>
          <a:noFill/>
          <a:ln/>
        </p:spPr>
        <p:txBody>
          <a:bodyPr wrap="square" lIns="0" tIns="0" rIns="0" bIns="0" rtlCol="0" anchor="ctr"/>
          <a:lstStyle/>
          <a:p>
            <a:pPr algn="ctr" indent="0" marL="0">
              <a:buNone/>
            </a:pPr>
            <a:r>
              <a:rPr lang="en-US" sz="1800" b="1" dirty="0">
                <a:solidFill>
                  <a:srgbClr val="F8FAFC"/>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1645920" y="3429000"/>
            <a:ext cx="6400800" cy="36576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Demo live</a:t>
            </a:r>
            <a:endParaRPr lang="en-US" sz="2000" dirty="0"/>
          </a:p>
        </p:txBody>
      </p:sp>
      <p:sp>
        <p:nvSpPr>
          <p:cNvPr id="18" name="Text 16"/>
          <p:cNvSpPr/>
          <p:nvPr/>
        </p:nvSpPr>
        <p:spPr>
          <a:xfrm>
            <a:off x="1645920" y="3794760"/>
            <a:ext cx="6400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Inject fraud · Phát hiện trong vài giây</a:t>
            </a:r>
            <a:endParaRPr lang="en-US" sz="1200" dirty="0"/>
          </a:p>
        </p:txBody>
      </p:sp>
      <p:sp>
        <p:nvSpPr>
          <p:cNvPr id="19" name="Text 17"/>
          <p:cNvSpPr/>
          <p:nvPr/>
        </p:nvSpPr>
        <p:spPr>
          <a:xfrm>
            <a:off x="10058400" y="3566160"/>
            <a:ext cx="1371600" cy="365760"/>
          </a:xfrm>
          <a:prstGeom prst="rect">
            <a:avLst/>
          </a:prstGeom>
          <a:noFill/>
          <a:ln/>
        </p:spPr>
        <p:txBody>
          <a:bodyPr wrap="square" rtlCol="0" anchor="ctr"/>
          <a:lstStyle/>
          <a:p>
            <a:pPr algn="r" indent="0" marL="0">
              <a:buNone/>
            </a:pPr>
            <a:r>
              <a:rPr lang="en-US" sz="1300" b="1" dirty="0">
                <a:solidFill>
                  <a:srgbClr val="0D9488"/>
                </a:solidFill>
                <a:latin typeface="Calibri" pitchFamily="34" charset="0"/>
                <a:ea typeface="Calibri" pitchFamily="34" charset="-122"/>
                <a:cs typeface="Calibri" pitchFamily="34" charset="-120"/>
              </a:rPr>
              <a:t>4 phút</a:t>
            </a:r>
            <a:endParaRPr lang="en-US" sz="1300" dirty="0"/>
          </a:p>
        </p:txBody>
      </p:sp>
      <p:sp>
        <p:nvSpPr>
          <p:cNvPr id="20" name="Shape 18"/>
          <p:cNvSpPr/>
          <p:nvPr/>
        </p:nvSpPr>
        <p:spPr>
          <a:xfrm>
            <a:off x="731520" y="4297680"/>
            <a:ext cx="640080" cy="640080"/>
          </a:xfrm>
          <a:prstGeom prst="ellipse">
            <a:avLst/>
          </a:prstGeom>
          <a:solidFill>
            <a:srgbClr val="10B981"/>
          </a:solidFill>
          <a:ln/>
        </p:spPr>
      </p:sp>
      <p:sp>
        <p:nvSpPr>
          <p:cNvPr id="21" name="Text 19"/>
          <p:cNvSpPr/>
          <p:nvPr/>
        </p:nvSpPr>
        <p:spPr>
          <a:xfrm>
            <a:off x="731520" y="4297680"/>
            <a:ext cx="640080" cy="640080"/>
          </a:xfrm>
          <a:prstGeom prst="rect">
            <a:avLst/>
          </a:prstGeom>
          <a:noFill/>
          <a:ln/>
        </p:spPr>
        <p:txBody>
          <a:bodyPr wrap="square" lIns="0" tIns="0" rIns="0" bIns="0" rtlCol="0" anchor="ctr"/>
          <a:lstStyle/>
          <a:p>
            <a:pPr algn="ctr" indent="0" marL="0">
              <a:buNone/>
            </a:pPr>
            <a:r>
              <a:rPr lang="en-US" sz="1800" b="1" dirty="0">
                <a:solidFill>
                  <a:srgbClr val="F8FAFC"/>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1645920" y="4297680"/>
            <a:ext cx="6400800" cy="36576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Kết quả</a:t>
            </a:r>
            <a:endParaRPr lang="en-US" sz="2000" dirty="0"/>
          </a:p>
        </p:txBody>
      </p:sp>
      <p:sp>
        <p:nvSpPr>
          <p:cNvPr id="23" name="Text 21"/>
          <p:cNvSpPr/>
          <p:nvPr/>
        </p:nvSpPr>
        <p:spPr>
          <a:xfrm>
            <a:off x="1645920" y="4663440"/>
            <a:ext cx="6400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Latency · Throughput · Precision/Recall</a:t>
            </a:r>
            <a:endParaRPr lang="en-US" sz="1200" dirty="0"/>
          </a:p>
        </p:txBody>
      </p:sp>
      <p:sp>
        <p:nvSpPr>
          <p:cNvPr id="24" name="Text 22"/>
          <p:cNvSpPr/>
          <p:nvPr/>
        </p:nvSpPr>
        <p:spPr>
          <a:xfrm>
            <a:off x="10058400" y="4434840"/>
            <a:ext cx="1371600" cy="365760"/>
          </a:xfrm>
          <a:prstGeom prst="rect">
            <a:avLst/>
          </a:prstGeom>
          <a:noFill/>
          <a:ln/>
        </p:spPr>
        <p:txBody>
          <a:bodyPr wrap="square" rtlCol="0" anchor="ctr"/>
          <a:lstStyle/>
          <a:p>
            <a:pPr algn="r" indent="0" marL="0">
              <a:buNone/>
            </a:pPr>
            <a:r>
              <a:rPr lang="en-US" sz="1300" b="1" dirty="0">
                <a:solidFill>
                  <a:srgbClr val="10B981"/>
                </a:solidFill>
                <a:latin typeface="Calibri" pitchFamily="34" charset="0"/>
                <a:ea typeface="Calibri" pitchFamily="34" charset="-122"/>
                <a:cs typeface="Calibri" pitchFamily="34" charset="-120"/>
              </a:rPr>
              <a:t>3 phút</a:t>
            </a:r>
            <a:endParaRPr lang="en-US" sz="1300" dirty="0"/>
          </a:p>
        </p:txBody>
      </p:sp>
      <p:sp>
        <p:nvSpPr>
          <p:cNvPr id="25" name="Shape 23"/>
          <p:cNvSpPr/>
          <p:nvPr/>
        </p:nvSpPr>
        <p:spPr>
          <a:xfrm>
            <a:off x="731520" y="5166360"/>
            <a:ext cx="640080" cy="640080"/>
          </a:xfrm>
          <a:prstGeom prst="ellipse">
            <a:avLst/>
          </a:prstGeom>
          <a:solidFill>
            <a:srgbClr val="F59E0B"/>
          </a:solidFill>
          <a:ln/>
        </p:spPr>
      </p:sp>
      <p:sp>
        <p:nvSpPr>
          <p:cNvPr id="26" name="Text 24"/>
          <p:cNvSpPr/>
          <p:nvPr/>
        </p:nvSpPr>
        <p:spPr>
          <a:xfrm>
            <a:off x="731520" y="5166360"/>
            <a:ext cx="640080" cy="640080"/>
          </a:xfrm>
          <a:prstGeom prst="rect">
            <a:avLst/>
          </a:prstGeom>
          <a:noFill/>
          <a:ln/>
        </p:spPr>
        <p:txBody>
          <a:bodyPr wrap="square" lIns="0" tIns="0" rIns="0" bIns="0" rtlCol="0" anchor="ctr"/>
          <a:lstStyle/>
          <a:p>
            <a:pPr algn="ctr" indent="0" marL="0">
              <a:buNone/>
            </a:pPr>
            <a:r>
              <a:rPr lang="en-US" sz="1800" b="1" dirty="0">
                <a:solidFill>
                  <a:srgbClr val="F8FAFC"/>
                </a:solidFill>
                <a:latin typeface="Calibri" pitchFamily="34" charset="0"/>
                <a:ea typeface="Calibri" pitchFamily="34" charset="-122"/>
                <a:cs typeface="Calibri" pitchFamily="34" charset="-120"/>
              </a:rPr>
              <a:t>05</a:t>
            </a:r>
            <a:endParaRPr lang="en-US" sz="1800" dirty="0"/>
          </a:p>
        </p:txBody>
      </p:sp>
      <p:sp>
        <p:nvSpPr>
          <p:cNvPr id="27" name="Text 25"/>
          <p:cNvSpPr/>
          <p:nvPr/>
        </p:nvSpPr>
        <p:spPr>
          <a:xfrm>
            <a:off x="1645920" y="5166360"/>
            <a:ext cx="6400800" cy="36576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Hạn chế &amp; Hướng phát triển</a:t>
            </a:r>
            <a:endParaRPr lang="en-US" sz="2000" dirty="0"/>
          </a:p>
        </p:txBody>
      </p:sp>
      <p:sp>
        <p:nvSpPr>
          <p:cNvPr id="28" name="Text 26"/>
          <p:cNvSpPr/>
          <p:nvPr/>
        </p:nvSpPr>
        <p:spPr>
          <a:xfrm>
            <a:off x="1645920" y="5532120"/>
            <a:ext cx="6400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Trade-offs và bước tiếp theo</a:t>
            </a:r>
            <a:endParaRPr lang="en-US" sz="1200" dirty="0"/>
          </a:p>
        </p:txBody>
      </p:sp>
      <p:sp>
        <p:nvSpPr>
          <p:cNvPr id="29" name="Text 27"/>
          <p:cNvSpPr/>
          <p:nvPr/>
        </p:nvSpPr>
        <p:spPr>
          <a:xfrm>
            <a:off x="10058400" y="5303520"/>
            <a:ext cx="1371600" cy="365760"/>
          </a:xfrm>
          <a:prstGeom prst="rect">
            <a:avLst/>
          </a:prstGeom>
          <a:noFill/>
          <a:ln/>
        </p:spPr>
        <p:txBody>
          <a:bodyPr wrap="square" rtlCol="0" anchor="ctr"/>
          <a:lstStyle/>
          <a:p>
            <a:pPr algn="r" indent="0" marL="0">
              <a:buNone/>
            </a:pPr>
            <a:r>
              <a:rPr lang="en-US" sz="1300" b="1" dirty="0">
                <a:solidFill>
                  <a:srgbClr val="F59E0B"/>
                </a:solidFill>
                <a:latin typeface="Calibri" pitchFamily="34" charset="0"/>
                <a:ea typeface="Calibri" pitchFamily="34" charset="-122"/>
                <a:cs typeface="Calibri" pitchFamily="34" charset="-120"/>
              </a:rPr>
              <a:t>2 phút</a:t>
            </a:r>
            <a:endParaRPr lang="en-US" sz="1300" dirty="0"/>
          </a:p>
        </p:txBody>
      </p:sp>
      <p:sp>
        <p:nvSpPr>
          <p:cNvPr id="30" name="Shape 28"/>
          <p:cNvSpPr/>
          <p:nvPr/>
        </p:nvSpPr>
        <p:spPr>
          <a:xfrm>
            <a:off x="457200" y="6537960"/>
            <a:ext cx="11274552" cy="4572"/>
          </a:xfrm>
          <a:prstGeom prst="rect">
            <a:avLst/>
          </a:prstGeom>
          <a:solidFill>
            <a:srgbClr val="E2E8F0"/>
          </a:solidFill>
          <a:ln/>
        </p:spPr>
      </p:sp>
      <p:sp>
        <p:nvSpPr>
          <p:cNvPr id="31" name="Text 29"/>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32" name="Text 30"/>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01 · Bài toán</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Gian lận giao dịch tài chính — vấn đề tỷ đô</a:t>
            </a:r>
            <a:endParaRPr lang="en-US" sz="3000" dirty="0"/>
          </a:p>
        </p:txBody>
      </p:sp>
      <p:sp>
        <p:nvSpPr>
          <p:cNvPr id="5" name="Shape 3"/>
          <p:cNvSpPr/>
          <p:nvPr/>
        </p:nvSpPr>
        <p:spPr>
          <a:xfrm>
            <a:off x="731520" y="1828800"/>
            <a:ext cx="34747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6" name="Shape 4"/>
          <p:cNvSpPr/>
          <p:nvPr/>
        </p:nvSpPr>
        <p:spPr>
          <a:xfrm>
            <a:off x="731520" y="1828800"/>
            <a:ext cx="3474720" cy="91440"/>
          </a:xfrm>
          <a:prstGeom prst="rect">
            <a:avLst/>
          </a:prstGeom>
          <a:solidFill>
            <a:srgbClr val="E11D48"/>
          </a:solidFill>
          <a:ln/>
        </p:spPr>
      </p:sp>
      <p:sp>
        <p:nvSpPr>
          <p:cNvPr id="7" name="Text 5"/>
          <p:cNvSpPr/>
          <p:nvPr/>
        </p:nvSpPr>
        <p:spPr>
          <a:xfrm>
            <a:off x="914400" y="2103120"/>
            <a:ext cx="3108960" cy="1005840"/>
          </a:xfrm>
          <a:prstGeom prst="rect">
            <a:avLst/>
          </a:prstGeom>
          <a:noFill/>
          <a:ln/>
        </p:spPr>
        <p:txBody>
          <a:bodyPr wrap="square" lIns="0" tIns="0" rIns="0" bIns="0" rtlCol="0" anchor="ctr"/>
          <a:lstStyle/>
          <a:p>
            <a:pPr algn="ctr" indent="0" marL="0">
              <a:buNone/>
            </a:pPr>
            <a:r>
              <a:rPr lang="en-US" sz="6400" b="1" dirty="0">
                <a:solidFill>
                  <a:srgbClr val="E11D48"/>
                </a:solidFill>
                <a:latin typeface="Calibri" pitchFamily="34" charset="0"/>
                <a:ea typeface="Calibri" pitchFamily="34" charset="-122"/>
                <a:cs typeface="Calibri" pitchFamily="34" charset="-120"/>
              </a:rPr>
              <a:t>$34B</a:t>
            </a:r>
            <a:endParaRPr lang="en-US" sz="6400" dirty="0"/>
          </a:p>
        </p:txBody>
      </p:sp>
      <p:sp>
        <p:nvSpPr>
          <p:cNvPr id="8" name="Text 6"/>
          <p:cNvSpPr/>
          <p:nvPr/>
        </p:nvSpPr>
        <p:spPr>
          <a:xfrm>
            <a:off x="914400" y="3154680"/>
            <a:ext cx="3108960" cy="640080"/>
          </a:xfrm>
          <a:prstGeom prst="rect">
            <a:avLst/>
          </a:prstGeom>
          <a:noFill/>
          <a:ln/>
        </p:spPr>
        <p:txBody>
          <a:bodyPr wrap="square" lIns="0" tIns="0" rIns="0" bIns="0" rtlCol="0" anchor="t"/>
          <a:lstStyle/>
          <a:p>
            <a:pPr algn="ctr" indent="0" marL="0">
              <a:buNone/>
            </a:pPr>
            <a:r>
              <a:rPr lang="en-US" sz="1300" dirty="0">
                <a:solidFill>
                  <a:srgbClr val="0F172A"/>
                </a:solidFill>
                <a:latin typeface="Calibri" pitchFamily="34" charset="0"/>
                <a:ea typeface="Calibri" pitchFamily="34" charset="-122"/>
                <a:cs typeface="Calibri" pitchFamily="34" charset="-120"/>
              </a:rPr>
              <a:t>Thiệt hại fraud thanh toán toàn cầu 2023</a:t>
            </a:r>
            <a:endParaRPr lang="en-US" sz="1300" dirty="0"/>
          </a:p>
        </p:txBody>
      </p:sp>
      <p:sp>
        <p:nvSpPr>
          <p:cNvPr id="9" name="Text 7"/>
          <p:cNvSpPr/>
          <p:nvPr/>
        </p:nvSpPr>
        <p:spPr>
          <a:xfrm>
            <a:off x="914400" y="3886200"/>
            <a:ext cx="310896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Nilson Report</a:t>
            </a:r>
            <a:endParaRPr lang="en-US" sz="900" dirty="0"/>
          </a:p>
        </p:txBody>
      </p:sp>
      <p:sp>
        <p:nvSpPr>
          <p:cNvPr id="10" name="Shape 8"/>
          <p:cNvSpPr/>
          <p:nvPr/>
        </p:nvSpPr>
        <p:spPr>
          <a:xfrm>
            <a:off x="4480560" y="1828800"/>
            <a:ext cx="34747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1" name="Shape 9"/>
          <p:cNvSpPr/>
          <p:nvPr/>
        </p:nvSpPr>
        <p:spPr>
          <a:xfrm>
            <a:off x="4480560" y="1828800"/>
            <a:ext cx="3474720" cy="91440"/>
          </a:xfrm>
          <a:prstGeom prst="rect">
            <a:avLst/>
          </a:prstGeom>
          <a:solidFill>
            <a:srgbClr val="F59E0B"/>
          </a:solidFill>
          <a:ln/>
        </p:spPr>
      </p:sp>
      <p:sp>
        <p:nvSpPr>
          <p:cNvPr id="12" name="Text 10"/>
          <p:cNvSpPr/>
          <p:nvPr/>
        </p:nvSpPr>
        <p:spPr>
          <a:xfrm>
            <a:off x="4663440" y="2103120"/>
            <a:ext cx="3108960" cy="1005840"/>
          </a:xfrm>
          <a:prstGeom prst="rect">
            <a:avLst/>
          </a:prstGeom>
          <a:noFill/>
          <a:ln/>
        </p:spPr>
        <p:txBody>
          <a:bodyPr wrap="square" lIns="0" tIns="0" rIns="0" bIns="0" rtlCol="0" anchor="ctr"/>
          <a:lstStyle/>
          <a:p>
            <a:pPr algn="ctr" indent="0" marL="0">
              <a:buNone/>
            </a:pPr>
            <a:r>
              <a:rPr lang="en-US" sz="6400" b="1" dirty="0">
                <a:solidFill>
                  <a:srgbClr val="F59E0B"/>
                </a:solidFill>
                <a:latin typeface="Calibri" pitchFamily="34" charset="0"/>
                <a:ea typeface="Calibri" pitchFamily="34" charset="-122"/>
                <a:cs typeface="Calibri" pitchFamily="34" charset="-120"/>
              </a:rPr>
              <a:t>5–15</a:t>
            </a:r>
            <a:endParaRPr lang="en-US" sz="6400" dirty="0"/>
          </a:p>
        </p:txBody>
      </p:sp>
      <p:sp>
        <p:nvSpPr>
          <p:cNvPr id="13" name="Text 11"/>
          <p:cNvSpPr/>
          <p:nvPr/>
        </p:nvSpPr>
        <p:spPr>
          <a:xfrm>
            <a:off x="4663440" y="3154680"/>
            <a:ext cx="3108960" cy="640080"/>
          </a:xfrm>
          <a:prstGeom prst="rect">
            <a:avLst/>
          </a:prstGeom>
          <a:noFill/>
          <a:ln/>
        </p:spPr>
        <p:txBody>
          <a:bodyPr wrap="square" lIns="0" tIns="0" rIns="0" bIns="0" rtlCol="0" anchor="t"/>
          <a:lstStyle/>
          <a:p>
            <a:pPr algn="ctr" indent="0" marL="0">
              <a:buNone/>
            </a:pPr>
            <a:r>
              <a:rPr lang="en-US" sz="1300" dirty="0">
                <a:solidFill>
                  <a:srgbClr val="0F172A"/>
                </a:solidFill>
                <a:latin typeface="Calibri" pitchFamily="34" charset="0"/>
                <a:ea typeface="Calibri" pitchFamily="34" charset="-122"/>
                <a:cs typeface="Calibri" pitchFamily="34" charset="-120"/>
              </a:rPr>
              <a:t>Phút để rút sạch tài khoản bị chiếm đoạt</a:t>
            </a:r>
            <a:endParaRPr lang="en-US" sz="1300" dirty="0"/>
          </a:p>
        </p:txBody>
      </p:sp>
      <p:sp>
        <p:nvSpPr>
          <p:cNvPr id="14" name="Text 12"/>
          <p:cNvSpPr/>
          <p:nvPr/>
        </p:nvSpPr>
        <p:spPr>
          <a:xfrm>
            <a:off x="4663440" y="3886200"/>
            <a:ext cx="310896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Báo cáo SBV / VNBA</a:t>
            </a:r>
            <a:endParaRPr lang="en-US" sz="900" dirty="0"/>
          </a:p>
        </p:txBody>
      </p:sp>
      <p:sp>
        <p:nvSpPr>
          <p:cNvPr id="15" name="Shape 13"/>
          <p:cNvSpPr/>
          <p:nvPr/>
        </p:nvSpPr>
        <p:spPr>
          <a:xfrm>
            <a:off x="8229600" y="1828800"/>
            <a:ext cx="34747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6" name="Shape 14"/>
          <p:cNvSpPr/>
          <p:nvPr/>
        </p:nvSpPr>
        <p:spPr>
          <a:xfrm>
            <a:off x="8229600" y="1828800"/>
            <a:ext cx="3474720" cy="91440"/>
          </a:xfrm>
          <a:prstGeom prst="rect">
            <a:avLst/>
          </a:prstGeom>
          <a:solidFill>
            <a:srgbClr val="1E40AF"/>
          </a:solidFill>
          <a:ln/>
        </p:spPr>
      </p:sp>
      <p:sp>
        <p:nvSpPr>
          <p:cNvPr id="17" name="Text 15"/>
          <p:cNvSpPr/>
          <p:nvPr/>
        </p:nvSpPr>
        <p:spPr>
          <a:xfrm>
            <a:off x="8412480" y="2103120"/>
            <a:ext cx="3108960" cy="1005840"/>
          </a:xfrm>
          <a:prstGeom prst="rect">
            <a:avLst/>
          </a:prstGeom>
          <a:noFill/>
          <a:ln/>
        </p:spPr>
        <p:txBody>
          <a:bodyPr wrap="square" lIns="0" tIns="0" rIns="0" bIns="0" rtlCol="0" anchor="ctr"/>
          <a:lstStyle/>
          <a:p>
            <a:pPr algn="ctr" indent="0" marL="0">
              <a:buNone/>
            </a:pPr>
            <a:r>
              <a:rPr lang="en-US" sz="6400" b="1" dirty="0">
                <a:solidFill>
                  <a:srgbClr val="1E40AF"/>
                </a:solidFill>
                <a:latin typeface="Calibri" pitchFamily="34" charset="0"/>
                <a:ea typeface="Calibri" pitchFamily="34" charset="-122"/>
                <a:cs typeface="Calibri" pitchFamily="34" charset="-120"/>
              </a:rPr>
              <a:t>$4</a:t>
            </a:r>
            <a:endParaRPr lang="en-US" sz="6400" dirty="0"/>
          </a:p>
        </p:txBody>
      </p:sp>
      <p:sp>
        <p:nvSpPr>
          <p:cNvPr id="18" name="Text 16"/>
          <p:cNvSpPr/>
          <p:nvPr/>
        </p:nvSpPr>
        <p:spPr>
          <a:xfrm>
            <a:off x="8412480" y="3154680"/>
            <a:ext cx="3108960" cy="640080"/>
          </a:xfrm>
          <a:prstGeom prst="rect">
            <a:avLst/>
          </a:prstGeom>
          <a:noFill/>
          <a:ln/>
        </p:spPr>
        <p:txBody>
          <a:bodyPr wrap="square" lIns="0" tIns="0" rIns="0" bIns="0" rtlCol="0" anchor="t"/>
          <a:lstStyle/>
          <a:p>
            <a:pPr algn="ctr" indent="0" marL="0">
              <a:buNone/>
            </a:pPr>
            <a:r>
              <a:rPr lang="en-US" sz="1300" dirty="0">
                <a:solidFill>
                  <a:srgbClr val="0F172A"/>
                </a:solidFill>
                <a:latin typeface="Calibri" pitchFamily="34" charset="0"/>
                <a:ea typeface="Calibri" pitchFamily="34" charset="-122"/>
                <a:cs typeface="Calibri" pitchFamily="34" charset="-120"/>
              </a:rPr>
              <a:t>Chi phí thật cho mỗi $1 fraud (điều tra + chargeback)</a:t>
            </a:r>
            <a:endParaRPr lang="en-US" sz="1300" dirty="0"/>
          </a:p>
        </p:txBody>
      </p:sp>
      <p:sp>
        <p:nvSpPr>
          <p:cNvPr id="19" name="Text 17"/>
          <p:cNvSpPr/>
          <p:nvPr/>
        </p:nvSpPr>
        <p:spPr>
          <a:xfrm>
            <a:off x="8412480" y="3886200"/>
            <a:ext cx="310896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LexisNexis 2024</a:t>
            </a:r>
            <a:endParaRPr lang="en-US" sz="900" dirty="0"/>
          </a:p>
        </p:txBody>
      </p:sp>
      <p:sp>
        <p:nvSpPr>
          <p:cNvPr id="20" name="Shape 18"/>
          <p:cNvSpPr/>
          <p:nvPr/>
        </p:nvSpPr>
        <p:spPr>
          <a:xfrm>
            <a:off x="731520" y="4754880"/>
            <a:ext cx="10698480" cy="1280160"/>
          </a:xfrm>
          <a:prstGeom prst="rect">
            <a:avLst/>
          </a:prstGeom>
          <a:solidFill>
            <a:srgbClr val="FEF3C7"/>
          </a:solidFill>
          <a:ln/>
        </p:spPr>
      </p:sp>
      <p:sp>
        <p:nvSpPr>
          <p:cNvPr id="21" name="Shape 19"/>
          <p:cNvSpPr/>
          <p:nvPr/>
        </p:nvSpPr>
        <p:spPr>
          <a:xfrm>
            <a:off x="731520" y="4754880"/>
            <a:ext cx="91440" cy="1280160"/>
          </a:xfrm>
          <a:prstGeom prst="rect">
            <a:avLst/>
          </a:prstGeom>
          <a:solidFill>
            <a:srgbClr val="F59E0B"/>
          </a:solidFill>
          <a:ln/>
        </p:spPr>
      </p:sp>
      <p:sp>
        <p:nvSpPr>
          <p:cNvPr id="22" name="Text 20"/>
          <p:cNvSpPr/>
          <p:nvPr/>
        </p:nvSpPr>
        <p:spPr>
          <a:xfrm>
            <a:off x="1005840" y="4846320"/>
            <a:ext cx="10241280" cy="320040"/>
          </a:xfrm>
          <a:prstGeom prst="rect">
            <a:avLst/>
          </a:prstGeom>
          <a:noFill/>
          <a:ln/>
        </p:spPr>
        <p:txBody>
          <a:bodyPr wrap="square" lIns="0" tIns="0" rIns="0" bIns="0" rtlCol="0" anchor="ctr"/>
          <a:lstStyle/>
          <a:p>
            <a:pPr indent="0" marL="0">
              <a:buNone/>
            </a:pPr>
            <a:r>
              <a:rPr lang="en-US" sz="1200" b="1" spc="400" kern="0" dirty="0">
                <a:solidFill>
                  <a:srgbClr val="92400E"/>
                </a:solidFill>
                <a:latin typeface="Calibri" pitchFamily="34" charset="0"/>
                <a:ea typeface="Calibri" pitchFamily="34" charset="-122"/>
                <a:cs typeface="Calibri" pitchFamily="34" charset="-120"/>
              </a:rPr>
              <a:t>Hiện trạng tại Việt Nam</a:t>
            </a:r>
            <a:endParaRPr lang="en-US" sz="1200" dirty="0"/>
          </a:p>
        </p:txBody>
      </p:sp>
      <p:sp>
        <p:nvSpPr>
          <p:cNvPr id="23" name="Text 21"/>
          <p:cNvSpPr/>
          <p:nvPr/>
        </p:nvSpPr>
        <p:spPr>
          <a:xfrm>
            <a:off x="1005840" y="5166360"/>
            <a:ext cx="10241280" cy="86868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Đa số ngân hàng nhỏ và fintech tại Việt Nam vẫn rà soát gian lận QUA ĐÊM bằng script SQL chạy trên hệ thống chính. Đến sáng phát hiện thì tiền đã chuyển ra crypto exchange — không thể truy đòi.</a:t>
            </a:r>
            <a:endParaRPr lang="en-US" sz="1400" dirty="0"/>
          </a:p>
        </p:txBody>
      </p:sp>
      <p:sp>
        <p:nvSpPr>
          <p:cNvPr id="24" name="Shape 22"/>
          <p:cNvSpPr/>
          <p:nvPr/>
        </p:nvSpPr>
        <p:spPr>
          <a:xfrm>
            <a:off x="457200" y="6537960"/>
            <a:ext cx="11274552" cy="4572"/>
          </a:xfrm>
          <a:prstGeom prst="rect">
            <a:avLst/>
          </a:prstGeom>
          <a:solidFill>
            <a:srgbClr val="E2E8F0"/>
          </a:solidFill>
          <a:ln/>
        </p:spPr>
      </p:sp>
      <p:sp>
        <p:nvSpPr>
          <p:cNvPr id="25" name="Text 23"/>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6" name="Text 24"/>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01 · Bài toán</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Vì sao 'qua đêm' là không đủ</a:t>
            </a:r>
            <a:endParaRPr lang="en-US" sz="3000" dirty="0"/>
          </a:p>
        </p:txBody>
      </p:sp>
      <p:sp>
        <p:nvSpPr>
          <p:cNvPr id="5" name="Shape 3"/>
          <p:cNvSpPr/>
          <p:nvPr/>
        </p:nvSpPr>
        <p:spPr>
          <a:xfrm>
            <a:off x="548640" y="1737360"/>
            <a:ext cx="5394960" cy="411480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6" name="Shape 4"/>
          <p:cNvSpPr/>
          <p:nvPr/>
        </p:nvSpPr>
        <p:spPr>
          <a:xfrm>
            <a:off x="548640" y="1737360"/>
            <a:ext cx="5394960" cy="91440"/>
          </a:xfrm>
          <a:prstGeom prst="rect">
            <a:avLst/>
          </a:prstGeom>
          <a:solidFill>
            <a:srgbClr val="E11D48"/>
          </a:solidFill>
          <a:ln/>
        </p:spPr>
      </p:sp>
      <p:sp>
        <p:nvSpPr>
          <p:cNvPr id="7" name="Text 5"/>
          <p:cNvSpPr/>
          <p:nvPr/>
        </p:nvSpPr>
        <p:spPr>
          <a:xfrm>
            <a:off x="777240" y="1920240"/>
            <a:ext cx="4937760" cy="365760"/>
          </a:xfrm>
          <a:prstGeom prst="rect">
            <a:avLst/>
          </a:prstGeom>
          <a:noFill/>
          <a:ln/>
        </p:spPr>
        <p:txBody>
          <a:bodyPr wrap="square" lIns="0" tIns="0" rIns="0" bIns="0" rtlCol="0" anchor="ctr"/>
          <a:lstStyle/>
          <a:p>
            <a:pPr indent="0" marL="0">
              <a:buNone/>
            </a:pPr>
            <a:r>
              <a:rPr lang="en-US" sz="1400" b="1" spc="400" kern="0" dirty="0">
                <a:solidFill>
                  <a:srgbClr val="E11D48"/>
                </a:solidFill>
                <a:latin typeface="Calibri" pitchFamily="34" charset="0"/>
                <a:ea typeface="Calibri" pitchFamily="34" charset="-122"/>
                <a:cs typeface="Calibri" pitchFamily="34" charset="-120"/>
              </a:rPr>
              <a:t>BATCH — qua đêm</a:t>
            </a:r>
            <a:endParaRPr lang="en-US" sz="1400" dirty="0"/>
          </a:p>
        </p:txBody>
      </p:sp>
      <p:sp>
        <p:nvSpPr>
          <p:cNvPr id="8" name="Text 6"/>
          <p:cNvSpPr/>
          <p:nvPr/>
        </p:nvSpPr>
        <p:spPr>
          <a:xfrm>
            <a:off x="777240" y="2286000"/>
            <a:ext cx="493776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Script SQL chạy 2h sáng</a:t>
            </a:r>
            <a:endParaRPr lang="en-US" sz="1800" dirty="0"/>
          </a:p>
        </p:txBody>
      </p:sp>
      <p:sp>
        <p:nvSpPr>
          <p:cNvPr id="9" name="Text 7"/>
          <p:cNvSpPr/>
          <p:nvPr/>
        </p:nvSpPr>
        <p:spPr>
          <a:xfrm>
            <a:off x="777240" y="2788920"/>
            <a:ext cx="4937760" cy="2377440"/>
          </a:xfrm>
          <a:prstGeom prst="rect">
            <a:avLst/>
          </a:prstGeom>
          <a:noFill/>
          <a:ln/>
        </p:spPr>
        <p:txBody>
          <a:bodyPr wrap="square" lIns="0" tIns="0" rIns="0" bIns="0" rtlCol="0" anchor="ctr"/>
          <a:lstStyle/>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02:00 — Tài khoản bị chiếm đoạt</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02:05 — Kẻ gian chuyển ra ví khác</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02:08 — Tiếp tục đẩy ra crypto exchange</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07:00 — Nạn nhân tỉnh dậy, phát hiện</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07:30 — Script đêm phát hiện anomaly</a:t>
            </a:r>
            <a:endParaRPr lang="en-US" sz="1300" dirty="0"/>
          </a:p>
          <a:p>
            <a:pPr indent="0" marL="0">
              <a:spcAft>
                <a:spcPts val="600"/>
              </a:spcAft>
              <a:buNone/>
            </a:pPr>
            <a:r>
              <a:rPr lang="en-US" sz="1400" b="1" dirty="0">
                <a:solidFill>
                  <a:srgbClr val="E11D48"/>
                </a:solidFill>
                <a:latin typeface="Calibri" pitchFamily="34" charset="0"/>
                <a:ea typeface="Calibri" pitchFamily="34" charset="-122"/>
                <a:cs typeface="Calibri" pitchFamily="34" charset="-120"/>
              </a:rPr>
              <a:t>→ Tiền đã ngoài tầm với</a:t>
            </a:r>
            <a:endParaRPr lang="en-US" sz="1300" dirty="0"/>
          </a:p>
        </p:txBody>
      </p:sp>
      <p:sp>
        <p:nvSpPr>
          <p:cNvPr id="10" name="Text 8"/>
          <p:cNvSpPr/>
          <p:nvPr/>
        </p:nvSpPr>
        <p:spPr>
          <a:xfrm>
            <a:off x="777240" y="5303520"/>
            <a:ext cx="4937760" cy="365760"/>
          </a:xfrm>
          <a:prstGeom prst="rect">
            <a:avLst/>
          </a:prstGeom>
          <a:noFill/>
          <a:ln/>
        </p:spPr>
        <p:txBody>
          <a:bodyPr wrap="square" lIns="0" tIns="0" rIns="0" bIns="0" rtlCol="0" anchor="ctr"/>
          <a:lstStyle/>
          <a:p>
            <a:pPr indent="0" marL="0">
              <a:buNone/>
            </a:pPr>
            <a:r>
              <a:rPr lang="en-US" sz="1600" b="1" dirty="0">
                <a:solidFill>
                  <a:srgbClr val="E11D48"/>
                </a:solidFill>
                <a:latin typeface="Calibri" pitchFamily="34" charset="0"/>
                <a:ea typeface="Calibri" pitchFamily="34" charset="-122"/>
                <a:cs typeface="Calibri" pitchFamily="34" charset="-120"/>
              </a:rPr>
              <a:t>Thiệt hại: 100% số dư</a:t>
            </a:r>
            <a:endParaRPr lang="en-US" sz="1600" dirty="0"/>
          </a:p>
        </p:txBody>
      </p:sp>
      <p:sp>
        <p:nvSpPr>
          <p:cNvPr id="11" name="Shape 9"/>
          <p:cNvSpPr/>
          <p:nvPr/>
        </p:nvSpPr>
        <p:spPr>
          <a:xfrm>
            <a:off x="6263640" y="1737360"/>
            <a:ext cx="5394960" cy="411480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2" name="Shape 10"/>
          <p:cNvSpPr/>
          <p:nvPr/>
        </p:nvSpPr>
        <p:spPr>
          <a:xfrm>
            <a:off x="6263640" y="1737360"/>
            <a:ext cx="5394960" cy="91440"/>
          </a:xfrm>
          <a:prstGeom prst="rect">
            <a:avLst/>
          </a:prstGeom>
          <a:solidFill>
            <a:srgbClr val="10B981"/>
          </a:solidFill>
          <a:ln/>
        </p:spPr>
      </p:sp>
      <p:sp>
        <p:nvSpPr>
          <p:cNvPr id="13" name="Text 11"/>
          <p:cNvSpPr/>
          <p:nvPr/>
        </p:nvSpPr>
        <p:spPr>
          <a:xfrm>
            <a:off x="6492240" y="1920240"/>
            <a:ext cx="4937760" cy="365760"/>
          </a:xfrm>
          <a:prstGeom prst="rect">
            <a:avLst/>
          </a:prstGeom>
          <a:noFill/>
          <a:ln/>
        </p:spPr>
        <p:txBody>
          <a:bodyPr wrap="square" lIns="0" tIns="0" rIns="0" bIns="0" rtlCol="0" anchor="ctr"/>
          <a:lstStyle/>
          <a:p>
            <a:pPr indent="0" marL="0">
              <a:buNone/>
            </a:pPr>
            <a:r>
              <a:rPr lang="en-US" sz="1400" b="1" spc="400" kern="0" dirty="0">
                <a:solidFill>
                  <a:srgbClr val="10B981"/>
                </a:solidFill>
                <a:latin typeface="Calibri" pitchFamily="34" charset="0"/>
                <a:ea typeface="Calibri" pitchFamily="34" charset="-122"/>
                <a:cs typeface="Calibri" pitchFamily="34" charset="-120"/>
              </a:rPr>
              <a:t>REAL-TIME — vài giây</a:t>
            </a:r>
            <a:endParaRPr lang="en-US" sz="1400" dirty="0"/>
          </a:p>
        </p:txBody>
      </p:sp>
      <p:sp>
        <p:nvSpPr>
          <p:cNvPr id="14" name="Text 12"/>
          <p:cNvSpPr/>
          <p:nvPr/>
        </p:nvSpPr>
        <p:spPr>
          <a:xfrm>
            <a:off x="6492240" y="2286000"/>
            <a:ext cx="493776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FinWatch CDC Pipeline</a:t>
            </a:r>
            <a:endParaRPr lang="en-US" sz="1800" dirty="0"/>
          </a:p>
        </p:txBody>
      </p:sp>
      <p:sp>
        <p:nvSpPr>
          <p:cNvPr id="15" name="Text 13"/>
          <p:cNvSpPr/>
          <p:nvPr/>
        </p:nvSpPr>
        <p:spPr>
          <a:xfrm>
            <a:off x="6492240" y="2788920"/>
            <a:ext cx="4937760" cy="2377440"/>
          </a:xfrm>
          <a:prstGeom prst="rect">
            <a:avLst/>
          </a:prstGeom>
          <a:noFill/>
          <a:ln/>
        </p:spPr>
        <p:txBody>
          <a:bodyPr wrap="square" lIns="0" tIns="0" rIns="0" bIns="0" rtlCol="0" anchor="ctr"/>
          <a:lstStyle/>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02:00:00 — Tài khoản bị chiếm đoạt</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02:00:03 — Giao dịch lạ qua CDC → Kafka</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02:00:05 — ClickHouse rule phát hiện</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02:00:06 — Alert + API tự động khóa thẻ</a:t>
            </a:r>
            <a:endParaRPr lang="en-US" sz="1300" dirty="0"/>
          </a:p>
          <a:p>
            <a:pPr indent="0" marL="0">
              <a:spcAft>
                <a:spcPts val="600"/>
              </a:spcAft>
              <a:buNone/>
            </a:pPr>
            <a:r>
              <a:rPr lang="en-US" sz="1300" dirty="0">
                <a:solidFill>
                  <a:srgbClr val="0F172A"/>
                </a:solidFill>
                <a:latin typeface="Calibri" pitchFamily="34" charset="0"/>
                <a:ea typeface="Calibri" pitchFamily="34" charset="-122"/>
                <a:cs typeface="Calibri" pitchFamily="34" charset="-120"/>
              </a:rPr>
              <a:t>02:00:08 — Giao dịch tiếp theo bị từ chối</a:t>
            </a:r>
            <a:endParaRPr lang="en-US" sz="1300" dirty="0"/>
          </a:p>
          <a:p>
            <a:pPr indent="0" marL="0">
              <a:spcAft>
                <a:spcPts val="600"/>
              </a:spcAft>
              <a:buNone/>
            </a:pPr>
            <a:r>
              <a:rPr lang="en-US" sz="1400" b="1" dirty="0">
                <a:solidFill>
                  <a:srgbClr val="10B981"/>
                </a:solidFill>
                <a:latin typeface="Calibri" pitchFamily="34" charset="0"/>
                <a:ea typeface="Calibri" pitchFamily="34" charset="-122"/>
                <a:cs typeface="Calibri" pitchFamily="34" charset="-120"/>
              </a:rPr>
              <a:t>→ Chặn được trước giao dịch thứ 2</a:t>
            </a:r>
            <a:endParaRPr lang="en-US" sz="1300" dirty="0"/>
          </a:p>
        </p:txBody>
      </p:sp>
      <p:sp>
        <p:nvSpPr>
          <p:cNvPr id="16" name="Text 14"/>
          <p:cNvSpPr/>
          <p:nvPr/>
        </p:nvSpPr>
        <p:spPr>
          <a:xfrm>
            <a:off x="6492240" y="5303520"/>
            <a:ext cx="4937760" cy="365760"/>
          </a:xfrm>
          <a:prstGeom prst="rect">
            <a:avLst/>
          </a:prstGeom>
          <a:noFill/>
          <a:ln/>
        </p:spPr>
        <p:txBody>
          <a:bodyPr wrap="square" lIns="0" tIns="0" rIns="0" bIns="0"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Thiệt hại: &lt; 5% số dư</a:t>
            </a:r>
            <a:endParaRPr lang="en-US" sz="1600" dirty="0"/>
          </a:p>
        </p:txBody>
      </p:sp>
      <p:sp>
        <p:nvSpPr>
          <p:cNvPr id="17" name="Shape 15"/>
          <p:cNvSpPr/>
          <p:nvPr/>
        </p:nvSpPr>
        <p:spPr>
          <a:xfrm>
            <a:off x="457200" y="6537960"/>
            <a:ext cx="11274552" cy="4572"/>
          </a:xfrm>
          <a:prstGeom prst="rect">
            <a:avLst/>
          </a:prstGeom>
          <a:solidFill>
            <a:srgbClr val="E2E8F0"/>
          </a:solidFill>
          <a:ln/>
        </p:spPr>
      </p:sp>
      <p:sp>
        <p:nvSpPr>
          <p:cNvPr id="18" name="Text 16"/>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19" name="Text 17"/>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01 · Bài toán</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Mục tiêu của FinWatch</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4 mục tiêu SMART — đo được, có deadline rõ ràng</a:t>
            </a:r>
            <a:endParaRPr lang="en-US" sz="1300" dirty="0"/>
          </a:p>
        </p:txBody>
      </p:sp>
      <p:sp>
        <p:nvSpPr>
          <p:cNvPr id="6" name="Shape 4"/>
          <p:cNvSpPr/>
          <p:nvPr/>
        </p:nvSpPr>
        <p:spPr>
          <a:xfrm>
            <a:off x="640080" y="1920240"/>
            <a:ext cx="5394960" cy="2011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7" name="Shape 5"/>
          <p:cNvSpPr/>
          <p:nvPr/>
        </p:nvSpPr>
        <p:spPr>
          <a:xfrm>
            <a:off x="640080" y="1920240"/>
            <a:ext cx="91440" cy="2011680"/>
          </a:xfrm>
          <a:prstGeom prst="rect">
            <a:avLst/>
          </a:prstGeom>
          <a:solidFill>
            <a:srgbClr val="1E40AF"/>
          </a:solidFill>
          <a:ln/>
        </p:spPr>
      </p:sp>
      <p:sp>
        <p:nvSpPr>
          <p:cNvPr id="8" name="Text 6"/>
          <p:cNvSpPr/>
          <p:nvPr/>
        </p:nvSpPr>
        <p:spPr>
          <a:xfrm>
            <a:off x="914400" y="2103120"/>
            <a:ext cx="914400" cy="320040"/>
          </a:xfrm>
          <a:prstGeom prst="rect">
            <a:avLst/>
          </a:prstGeom>
          <a:noFill/>
          <a:ln/>
        </p:spPr>
        <p:txBody>
          <a:bodyPr wrap="square" lIns="0" tIns="0" rIns="0" bIns="0" rtlCol="0" anchor="ctr"/>
          <a:lstStyle/>
          <a:p>
            <a:pPr indent="0" marL="0">
              <a:buNone/>
            </a:pPr>
            <a:r>
              <a:rPr lang="en-US" sz="1200" b="1" spc="400" kern="0" dirty="0">
                <a:solidFill>
                  <a:srgbClr val="1E40AF"/>
                </a:solidFill>
                <a:latin typeface="Calibri" pitchFamily="34" charset="0"/>
                <a:ea typeface="Calibri" pitchFamily="34" charset="-122"/>
                <a:cs typeface="Calibri" pitchFamily="34" charset="-120"/>
              </a:rPr>
              <a:t>M1</a:t>
            </a:r>
            <a:endParaRPr lang="en-US" sz="1200" dirty="0"/>
          </a:p>
        </p:txBody>
      </p:sp>
      <p:sp>
        <p:nvSpPr>
          <p:cNvPr id="9" name="Text 7"/>
          <p:cNvSpPr/>
          <p:nvPr/>
        </p:nvSpPr>
        <p:spPr>
          <a:xfrm>
            <a:off x="914400" y="2423160"/>
            <a:ext cx="4937760"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Pipeline CDC end-to-end</a:t>
            </a:r>
            <a:endParaRPr lang="en-US" sz="1900" dirty="0"/>
          </a:p>
        </p:txBody>
      </p:sp>
      <p:sp>
        <p:nvSpPr>
          <p:cNvPr id="10" name="Text 8"/>
          <p:cNvSpPr/>
          <p:nvPr/>
        </p:nvSpPr>
        <p:spPr>
          <a:xfrm>
            <a:off x="914400" y="2880360"/>
            <a:ext cx="493776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Latency P95 &lt; 5 giây từ INSERT Postgres đến query được ở ClickHouse</a:t>
            </a:r>
            <a:endParaRPr lang="en-US" sz="1200" dirty="0"/>
          </a:p>
        </p:txBody>
      </p:sp>
      <p:sp>
        <p:nvSpPr>
          <p:cNvPr id="11" name="Text 9"/>
          <p:cNvSpPr/>
          <p:nvPr/>
        </p:nvSpPr>
        <p:spPr>
          <a:xfrm>
            <a:off x="914400" y="3520440"/>
            <a:ext cx="4937760" cy="274320"/>
          </a:xfrm>
          <a:prstGeom prst="rect">
            <a:avLst/>
          </a:prstGeom>
          <a:noFill/>
          <a:ln/>
        </p:spPr>
        <p:txBody>
          <a:bodyPr wrap="square" lIns="0" tIns="0" rIns="0" bIns="0"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Đạt: P95 = 1.8s</a:t>
            </a:r>
            <a:endParaRPr lang="en-US" sz="1100" dirty="0"/>
          </a:p>
        </p:txBody>
      </p:sp>
      <p:sp>
        <p:nvSpPr>
          <p:cNvPr id="12" name="Shape 10"/>
          <p:cNvSpPr/>
          <p:nvPr/>
        </p:nvSpPr>
        <p:spPr>
          <a:xfrm>
            <a:off x="6309360" y="1920240"/>
            <a:ext cx="5394960" cy="2011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3" name="Shape 11"/>
          <p:cNvSpPr/>
          <p:nvPr/>
        </p:nvSpPr>
        <p:spPr>
          <a:xfrm>
            <a:off x="6309360" y="1920240"/>
            <a:ext cx="91440" cy="2011680"/>
          </a:xfrm>
          <a:prstGeom prst="rect">
            <a:avLst/>
          </a:prstGeom>
          <a:solidFill>
            <a:srgbClr val="0D9488"/>
          </a:solidFill>
          <a:ln/>
        </p:spPr>
      </p:sp>
      <p:sp>
        <p:nvSpPr>
          <p:cNvPr id="14" name="Text 12"/>
          <p:cNvSpPr/>
          <p:nvPr/>
        </p:nvSpPr>
        <p:spPr>
          <a:xfrm>
            <a:off x="6583680" y="2103120"/>
            <a:ext cx="914400" cy="320040"/>
          </a:xfrm>
          <a:prstGeom prst="rect">
            <a:avLst/>
          </a:prstGeom>
          <a:noFill/>
          <a:ln/>
        </p:spPr>
        <p:txBody>
          <a:bodyPr wrap="square" lIns="0" tIns="0" rIns="0" bIns="0" rtlCol="0" anchor="ctr"/>
          <a:lstStyle/>
          <a:p>
            <a:pPr indent="0" marL="0">
              <a:buNone/>
            </a:pPr>
            <a:r>
              <a:rPr lang="en-US" sz="1200" b="1" spc="400" kern="0" dirty="0">
                <a:solidFill>
                  <a:srgbClr val="0D9488"/>
                </a:solidFill>
                <a:latin typeface="Calibri" pitchFamily="34" charset="0"/>
                <a:ea typeface="Calibri" pitchFamily="34" charset="-122"/>
                <a:cs typeface="Calibri" pitchFamily="34" charset="-120"/>
              </a:rPr>
              <a:t>M2</a:t>
            </a:r>
            <a:endParaRPr lang="en-US" sz="1200" dirty="0"/>
          </a:p>
        </p:txBody>
      </p:sp>
      <p:sp>
        <p:nvSpPr>
          <p:cNvPr id="15" name="Text 13"/>
          <p:cNvSpPr/>
          <p:nvPr/>
        </p:nvSpPr>
        <p:spPr>
          <a:xfrm>
            <a:off x="6583680" y="2423160"/>
            <a:ext cx="4937760"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Phát hiện 4 loại gian lận</a:t>
            </a:r>
            <a:endParaRPr lang="en-US" sz="1900" dirty="0"/>
          </a:p>
        </p:txBody>
      </p:sp>
      <p:sp>
        <p:nvSpPr>
          <p:cNvPr id="16" name="Text 14"/>
          <p:cNvSpPr/>
          <p:nvPr/>
        </p:nvSpPr>
        <p:spPr>
          <a:xfrm>
            <a:off x="6583680" y="2880360"/>
            <a:ext cx="493776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Velocity, large amount, multi-currency, threshold rules</a:t>
            </a:r>
            <a:endParaRPr lang="en-US" sz="1200" dirty="0"/>
          </a:p>
        </p:txBody>
      </p:sp>
      <p:sp>
        <p:nvSpPr>
          <p:cNvPr id="17" name="Text 15"/>
          <p:cNvSpPr/>
          <p:nvPr/>
        </p:nvSpPr>
        <p:spPr>
          <a:xfrm>
            <a:off x="6583680" y="3520440"/>
            <a:ext cx="4937760" cy="27432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Precision &gt; 70% mỗi rule</a:t>
            </a:r>
            <a:endParaRPr lang="en-US" sz="1100" dirty="0"/>
          </a:p>
        </p:txBody>
      </p:sp>
      <p:sp>
        <p:nvSpPr>
          <p:cNvPr id="18" name="Shape 16"/>
          <p:cNvSpPr/>
          <p:nvPr/>
        </p:nvSpPr>
        <p:spPr>
          <a:xfrm>
            <a:off x="640080" y="4206240"/>
            <a:ext cx="5394960" cy="2011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9" name="Shape 17"/>
          <p:cNvSpPr/>
          <p:nvPr/>
        </p:nvSpPr>
        <p:spPr>
          <a:xfrm>
            <a:off x="640080" y="4206240"/>
            <a:ext cx="91440" cy="2011680"/>
          </a:xfrm>
          <a:prstGeom prst="rect">
            <a:avLst/>
          </a:prstGeom>
          <a:solidFill>
            <a:srgbClr val="10B981"/>
          </a:solidFill>
          <a:ln/>
        </p:spPr>
      </p:sp>
      <p:sp>
        <p:nvSpPr>
          <p:cNvPr id="20" name="Text 18"/>
          <p:cNvSpPr/>
          <p:nvPr/>
        </p:nvSpPr>
        <p:spPr>
          <a:xfrm>
            <a:off x="914400" y="4389120"/>
            <a:ext cx="914400" cy="320040"/>
          </a:xfrm>
          <a:prstGeom prst="rect">
            <a:avLst/>
          </a:prstGeom>
          <a:noFill/>
          <a:ln/>
        </p:spPr>
        <p:txBody>
          <a:bodyPr wrap="square" lIns="0" tIns="0" rIns="0" bIns="0" rtlCol="0" anchor="ctr"/>
          <a:lstStyle/>
          <a:p>
            <a:pPr indent="0" marL="0">
              <a:buNone/>
            </a:pPr>
            <a:r>
              <a:rPr lang="en-US" sz="1200" b="1" spc="400" kern="0" dirty="0">
                <a:solidFill>
                  <a:srgbClr val="10B981"/>
                </a:solidFill>
                <a:latin typeface="Calibri" pitchFamily="34" charset="0"/>
                <a:ea typeface="Calibri" pitchFamily="34" charset="-122"/>
                <a:cs typeface="Calibri" pitchFamily="34" charset="-120"/>
              </a:rPr>
              <a:t>M3</a:t>
            </a:r>
            <a:endParaRPr lang="en-US" sz="1200" dirty="0"/>
          </a:p>
        </p:txBody>
      </p:sp>
      <p:sp>
        <p:nvSpPr>
          <p:cNvPr id="21" name="Text 19"/>
          <p:cNvSpPr/>
          <p:nvPr/>
        </p:nvSpPr>
        <p:spPr>
          <a:xfrm>
            <a:off x="914400" y="4709160"/>
            <a:ext cx="4937760"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Dashboard giám sát real-time</a:t>
            </a:r>
            <a:endParaRPr lang="en-US" sz="1900" dirty="0"/>
          </a:p>
        </p:txBody>
      </p:sp>
      <p:sp>
        <p:nvSpPr>
          <p:cNvPr id="22" name="Text 20"/>
          <p:cNvSpPr/>
          <p:nvPr/>
        </p:nvSpPr>
        <p:spPr>
          <a:xfrm>
            <a:off x="914400" y="5166360"/>
            <a:ext cx="493776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5+ panel Grafana, alert tự động qua email khi rule trigger</a:t>
            </a:r>
            <a:endParaRPr lang="en-US" sz="1200" dirty="0"/>
          </a:p>
        </p:txBody>
      </p:sp>
      <p:sp>
        <p:nvSpPr>
          <p:cNvPr id="23" name="Text 21"/>
          <p:cNvSpPr/>
          <p:nvPr/>
        </p:nvSpPr>
        <p:spPr>
          <a:xfrm>
            <a:off x="914400" y="5806440"/>
            <a:ext cx="493776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Refresh &lt; 5s</a:t>
            </a:r>
            <a:endParaRPr lang="en-US" sz="1100" dirty="0"/>
          </a:p>
        </p:txBody>
      </p:sp>
      <p:sp>
        <p:nvSpPr>
          <p:cNvPr id="24" name="Shape 22"/>
          <p:cNvSpPr/>
          <p:nvPr/>
        </p:nvSpPr>
        <p:spPr>
          <a:xfrm>
            <a:off x="6309360" y="4206240"/>
            <a:ext cx="5394960" cy="2011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25" name="Shape 23"/>
          <p:cNvSpPr/>
          <p:nvPr/>
        </p:nvSpPr>
        <p:spPr>
          <a:xfrm>
            <a:off x="6309360" y="4206240"/>
            <a:ext cx="91440" cy="2011680"/>
          </a:xfrm>
          <a:prstGeom prst="rect">
            <a:avLst/>
          </a:prstGeom>
          <a:solidFill>
            <a:srgbClr val="F59E0B"/>
          </a:solidFill>
          <a:ln/>
        </p:spPr>
      </p:sp>
      <p:sp>
        <p:nvSpPr>
          <p:cNvPr id="26" name="Text 24"/>
          <p:cNvSpPr/>
          <p:nvPr/>
        </p:nvSpPr>
        <p:spPr>
          <a:xfrm>
            <a:off x="6583680" y="4389120"/>
            <a:ext cx="914400" cy="320040"/>
          </a:xfrm>
          <a:prstGeom prst="rect">
            <a:avLst/>
          </a:prstGeom>
          <a:noFill/>
          <a:ln/>
        </p:spPr>
        <p:txBody>
          <a:bodyPr wrap="square" lIns="0" tIns="0" rIns="0" bIns="0" rtlCol="0" anchor="ctr"/>
          <a:lstStyle/>
          <a:p>
            <a:pPr indent="0" marL="0">
              <a:buNone/>
            </a:pPr>
            <a:r>
              <a:rPr lang="en-US" sz="1200" b="1" spc="400" kern="0" dirty="0">
                <a:solidFill>
                  <a:srgbClr val="F59E0B"/>
                </a:solidFill>
                <a:latin typeface="Calibri" pitchFamily="34" charset="0"/>
                <a:ea typeface="Calibri" pitchFamily="34" charset="-122"/>
                <a:cs typeface="Calibri" pitchFamily="34" charset="-120"/>
              </a:rPr>
              <a:t>M4</a:t>
            </a:r>
            <a:endParaRPr lang="en-US" sz="1200" dirty="0"/>
          </a:p>
        </p:txBody>
      </p:sp>
      <p:sp>
        <p:nvSpPr>
          <p:cNvPr id="27" name="Text 25"/>
          <p:cNvSpPr/>
          <p:nvPr/>
        </p:nvSpPr>
        <p:spPr>
          <a:xfrm>
            <a:off x="6583680" y="4709160"/>
            <a:ext cx="4937760" cy="41148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Tài liệu kỹ thuật đầy đủ</a:t>
            </a:r>
            <a:endParaRPr lang="en-US" sz="1900" dirty="0"/>
          </a:p>
        </p:txBody>
      </p:sp>
      <p:sp>
        <p:nvSpPr>
          <p:cNvPr id="28" name="Text 26"/>
          <p:cNvSpPr/>
          <p:nvPr/>
        </p:nvSpPr>
        <p:spPr>
          <a:xfrm>
            <a:off x="6583680" y="5166360"/>
            <a:ext cx="493776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Architecture doc, runbook, benchmark report, video demo</a:t>
            </a:r>
            <a:endParaRPr lang="en-US" sz="1200" dirty="0"/>
          </a:p>
        </p:txBody>
      </p:sp>
      <p:sp>
        <p:nvSpPr>
          <p:cNvPr id="29" name="Text 27"/>
          <p:cNvSpPr/>
          <p:nvPr/>
        </p:nvSpPr>
        <p:spPr>
          <a:xfrm>
            <a:off x="6583680" y="5806440"/>
            <a:ext cx="493776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Báo cáo ≥ 60 trang</a:t>
            </a:r>
            <a:endParaRPr lang="en-US" sz="1100" dirty="0"/>
          </a:p>
        </p:txBody>
      </p:sp>
      <p:sp>
        <p:nvSpPr>
          <p:cNvPr id="30" name="Shape 28"/>
          <p:cNvSpPr/>
          <p:nvPr/>
        </p:nvSpPr>
        <p:spPr>
          <a:xfrm>
            <a:off x="457200" y="6537960"/>
            <a:ext cx="11274552" cy="4572"/>
          </a:xfrm>
          <a:prstGeom prst="rect">
            <a:avLst/>
          </a:prstGeom>
          <a:solidFill>
            <a:srgbClr val="E2E8F0"/>
          </a:solidFill>
          <a:ln/>
        </p:spPr>
      </p:sp>
      <p:sp>
        <p:nvSpPr>
          <p:cNvPr id="31" name="Text 29"/>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32" name="Text 30"/>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01 · Bài toán</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Phạm vi đồ án</a:t>
            </a:r>
            <a:endParaRPr lang="en-US" sz="3000" dirty="0"/>
          </a:p>
        </p:txBody>
      </p:sp>
      <p:sp>
        <p:nvSpPr>
          <p:cNvPr id="5" name="Shape 3"/>
          <p:cNvSpPr/>
          <p:nvPr/>
        </p:nvSpPr>
        <p:spPr>
          <a:xfrm>
            <a:off x="548640" y="1737360"/>
            <a:ext cx="5394960" cy="4389120"/>
          </a:xfrm>
          <a:prstGeom prst="rect">
            <a:avLst/>
          </a:prstGeom>
          <a:solidFill>
            <a:srgbClr val="ECFDF5"/>
          </a:solidFill>
          <a:ln/>
        </p:spPr>
      </p:sp>
      <p:sp>
        <p:nvSpPr>
          <p:cNvPr id="6" name="Text 4"/>
          <p:cNvSpPr/>
          <p:nvPr/>
        </p:nvSpPr>
        <p:spPr>
          <a:xfrm>
            <a:off x="777240" y="1920240"/>
            <a:ext cx="5029200" cy="365760"/>
          </a:xfrm>
          <a:prstGeom prst="rect">
            <a:avLst/>
          </a:prstGeom>
          <a:noFill/>
          <a:ln/>
        </p:spPr>
        <p:txBody>
          <a:bodyPr wrap="square" lIns="0" tIns="0" rIns="0" bIns="0" rtlCol="0" anchor="ctr"/>
          <a:lstStyle/>
          <a:p>
            <a:pPr indent="0" marL="0">
              <a:buNone/>
            </a:pPr>
            <a:r>
              <a:rPr lang="en-US" sz="1400" b="1" spc="600" kern="0" dirty="0">
                <a:solidFill>
                  <a:srgbClr val="065F46"/>
                </a:solidFill>
                <a:latin typeface="Calibri" pitchFamily="34" charset="0"/>
                <a:ea typeface="Calibri" pitchFamily="34" charset="-122"/>
                <a:cs typeface="Calibri" pitchFamily="34" charset="-120"/>
              </a:rPr>
              <a:t>TRONG PHẠM VI</a:t>
            </a:r>
            <a:endParaRPr lang="en-US" sz="1400" dirty="0"/>
          </a:p>
        </p:txBody>
      </p:sp>
      <p:sp>
        <p:nvSpPr>
          <p:cNvPr id="7" name="Text 5"/>
          <p:cNvSpPr/>
          <p:nvPr/>
        </p:nvSpPr>
        <p:spPr>
          <a:xfrm>
            <a:off x="777240" y="2331720"/>
            <a:ext cx="5029200" cy="3657600"/>
          </a:xfrm>
          <a:prstGeom prst="rect">
            <a:avLst/>
          </a:prstGeom>
          <a:noFill/>
          <a:ln/>
        </p:spPr>
        <p:txBody>
          <a:bodyPr wrap="square" lIns="0" tIns="0" rIns="0" bIns="0" rtlCol="0" anchor="ctr"/>
          <a:lstStyle/>
          <a:p>
            <a:pPr indent="0" marL="0">
              <a:spcAft>
                <a:spcPts val="1000"/>
              </a:spcAft>
              <a:buNone/>
            </a:pPr>
            <a:r>
              <a:rPr lang="en-US" sz="1600" b="1" dirty="0">
                <a:solidFill>
                  <a:srgbClr val="10B981"/>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Pipeline CDC mã nguồn mở end-to-end</a:t>
            </a:r>
            <a:endParaRPr lang="en-US" sz="1600" dirty="0"/>
          </a:p>
          <a:p>
            <a:pPr indent="0" marL="0">
              <a:spcAft>
                <a:spcPts val="1000"/>
              </a:spcAft>
              <a:buNone/>
            </a:pPr>
            <a:r>
              <a:rPr lang="en-US" sz="1600" b="1" dirty="0">
                <a:solidFill>
                  <a:srgbClr val="10B981"/>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Anomaly detection rule-based + statistical</a:t>
            </a:r>
            <a:endParaRPr lang="en-US" sz="1600" dirty="0"/>
          </a:p>
          <a:p>
            <a:pPr indent="0" marL="0">
              <a:spcAft>
                <a:spcPts val="1000"/>
              </a:spcAft>
              <a:buNone/>
            </a:pPr>
            <a:r>
              <a:rPr lang="en-US" sz="1600" b="1" dirty="0">
                <a:solidFill>
                  <a:srgbClr val="10B981"/>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Triển khai single-node bằng Docker Compose</a:t>
            </a:r>
            <a:endParaRPr lang="en-US" sz="1600" dirty="0"/>
          </a:p>
          <a:p>
            <a:pPr indent="0" marL="0">
              <a:spcAft>
                <a:spcPts val="1000"/>
              </a:spcAft>
              <a:buNone/>
            </a:pPr>
            <a:r>
              <a:rPr lang="en-US" sz="1600" b="1" dirty="0">
                <a:solidFill>
                  <a:srgbClr val="10B981"/>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Benchmark latency + throughput</a:t>
            </a:r>
            <a:endParaRPr lang="en-US" sz="1600" dirty="0"/>
          </a:p>
          <a:p>
            <a:pPr indent="0" marL="0">
              <a:spcAft>
                <a:spcPts val="1000"/>
              </a:spcAft>
              <a:buNone/>
            </a:pPr>
            <a:r>
              <a:rPr lang="en-US" sz="1600" b="1" dirty="0">
                <a:solidFill>
                  <a:srgbClr val="10B981"/>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Dashboard Grafana + alert qua email</a:t>
            </a:r>
            <a:endParaRPr lang="en-US" sz="1600" dirty="0"/>
          </a:p>
          <a:p>
            <a:pPr indent="0" marL="0">
              <a:spcAft>
                <a:spcPts val="1000"/>
              </a:spcAft>
              <a:buNone/>
            </a:pPr>
            <a:r>
              <a:rPr lang="en-US" sz="1600" b="1" dirty="0">
                <a:solidFill>
                  <a:srgbClr val="10B981"/>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Tài liệu architecture + runbook</a:t>
            </a:r>
            <a:endParaRPr lang="en-US" sz="1600" dirty="0"/>
          </a:p>
        </p:txBody>
      </p:sp>
      <p:sp>
        <p:nvSpPr>
          <p:cNvPr id="8" name="Shape 6"/>
          <p:cNvSpPr/>
          <p:nvPr/>
        </p:nvSpPr>
        <p:spPr>
          <a:xfrm>
            <a:off x="6263640" y="1737360"/>
            <a:ext cx="5394960" cy="4389120"/>
          </a:xfrm>
          <a:prstGeom prst="rect">
            <a:avLst/>
          </a:prstGeom>
          <a:solidFill>
            <a:srgbClr val="FEF2F2"/>
          </a:solidFill>
          <a:ln/>
        </p:spPr>
      </p:sp>
      <p:sp>
        <p:nvSpPr>
          <p:cNvPr id="9" name="Text 7"/>
          <p:cNvSpPr/>
          <p:nvPr/>
        </p:nvSpPr>
        <p:spPr>
          <a:xfrm>
            <a:off x="6492240" y="1920240"/>
            <a:ext cx="5029200" cy="365760"/>
          </a:xfrm>
          <a:prstGeom prst="rect">
            <a:avLst/>
          </a:prstGeom>
          <a:noFill/>
          <a:ln/>
        </p:spPr>
        <p:txBody>
          <a:bodyPr wrap="square" lIns="0" tIns="0" rIns="0" bIns="0" rtlCol="0" anchor="ctr"/>
          <a:lstStyle/>
          <a:p>
            <a:pPr indent="0" marL="0">
              <a:buNone/>
            </a:pPr>
            <a:r>
              <a:rPr lang="en-US" sz="1400" b="1" spc="600" kern="0" dirty="0">
                <a:solidFill>
                  <a:srgbClr val="991B1B"/>
                </a:solidFill>
                <a:latin typeface="Calibri" pitchFamily="34" charset="0"/>
                <a:ea typeface="Calibri" pitchFamily="34" charset="-122"/>
                <a:cs typeface="Calibri" pitchFamily="34" charset="-120"/>
              </a:rPr>
              <a:t>NGOÀI PHẠM VI</a:t>
            </a:r>
            <a:endParaRPr lang="en-US" sz="1400" dirty="0"/>
          </a:p>
        </p:txBody>
      </p:sp>
      <p:sp>
        <p:nvSpPr>
          <p:cNvPr id="10" name="Text 8"/>
          <p:cNvSpPr/>
          <p:nvPr/>
        </p:nvSpPr>
        <p:spPr>
          <a:xfrm>
            <a:off x="6492240" y="2331720"/>
            <a:ext cx="5029200" cy="3657600"/>
          </a:xfrm>
          <a:prstGeom prst="rect">
            <a:avLst/>
          </a:prstGeom>
          <a:noFill/>
          <a:ln/>
        </p:spPr>
        <p:txBody>
          <a:bodyPr wrap="square" lIns="0" tIns="0" rIns="0" bIns="0" rtlCol="0" anchor="ctr"/>
          <a:lstStyle/>
          <a:p>
            <a:pPr indent="0" marL="0">
              <a:spcAft>
                <a:spcPts val="1000"/>
              </a:spcAft>
              <a:buNone/>
            </a:pPr>
            <a:r>
              <a:rPr lang="en-US" sz="1600" b="1" dirty="0">
                <a:solidFill>
                  <a:srgbClr val="E11D48"/>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ML-based fraud detection (XGBoost, autoencoder)</a:t>
            </a:r>
            <a:endParaRPr lang="en-US" sz="1600" dirty="0"/>
          </a:p>
          <a:p>
            <a:pPr indent="0" marL="0">
              <a:spcAft>
                <a:spcPts val="1000"/>
              </a:spcAft>
              <a:buNone/>
            </a:pPr>
            <a:r>
              <a:rPr lang="en-US" sz="1600" b="1" dirty="0">
                <a:solidFill>
                  <a:srgbClr val="E11D48"/>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Synthetic identity fraud detection</a:t>
            </a:r>
            <a:endParaRPr lang="en-US" sz="1600" dirty="0"/>
          </a:p>
          <a:p>
            <a:pPr indent="0" marL="0">
              <a:spcAft>
                <a:spcPts val="1000"/>
              </a:spcAft>
              <a:buNone/>
            </a:pPr>
            <a:r>
              <a:rPr lang="en-US" sz="1600" b="1" dirty="0">
                <a:solidFill>
                  <a:srgbClr val="E11D48"/>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Production hardening (TLS, ACL, HA cluster)</a:t>
            </a:r>
            <a:endParaRPr lang="en-US" sz="1600" dirty="0"/>
          </a:p>
          <a:p>
            <a:pPr indent="0" marL="0">
              <a:spcAft>
                <a:spcPts val="1000"/>
              </a:spcAft>
              <a:buNone/>
            </a:pPr>
            <a:r>
              <a:rPr lang="en-US" sz="1600" b="1" dirty="0">
                <a:solidFill>
                  <a:srgbClr val="E11D48"/>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Compliance audit (PCI-DSS, SOC 2)</a:t>
            </a:r>
            <a:endParaRPr lang="en-US" sz="1600" dirty="0"/>
          </a:p>
          <a:p>
            <a:pPr indent="0" marL="0">
              <a:spcAft>
                <a:spcPts val="1000"/>
              </a:spcAft>
              <a:buNone/>
            </a:pPr>
            <a:r>
              <a:rPr lang="en-US" sz="1600" b="1" dirty="0">
                <a:solidFill>
                  <a:srgbClr val="E11D48"/>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Multi-region / disaster recovery</a:t>
            </a:r>
            <a:endParaRPr lang="en-US" sz="1600" dirty="0"/>
          </a:p>
          <a:p>
            <a:pPr indent="0" marL="0">
              <a:spcAft>
                <a:spcPts val="1000"/>
              </a:spcAft>
              <a:buNone/>
            </a:pPr>
            <a:r>
              <a:rPr lang="en-US" sz="1600" b="1" dirty="0">
                <a:solidFill>
                  <a:srgbClr val="E11D48"/>
                </a:solidFill>
                <a:latin typeface="Calibri" pitchFamily="34" charset="0"/>
                <a:ea typeface="Calibri" pitchFamily="34" charset="-122"/>
                <a:cs typeface="Calibri" pitchFamily="34" charset="-120"/>
              </a:rPr>
              <a:t>✗  </a:t>
            </a:r>
            <a:pPr indent="0" marL="0">
              <a:spcAft>
                <a:spcPts val="1000"/>
              </a:spcAft>
              <a:buNone/>
            </a:pPr>
            <a:r>
              <a:rPr lang="en-US" sz="1400" dirty="0">
                <a:solidFill>
                  <a:srgbClr val="0F172A"/>
                </a:solidFill>
                <a:latin typeface="Calibri" pitchFamily="34" charset="0"/>
                <a:ea typeface="Calibri" pitchFamily="34" charset="-122"/>
                <a:cs typeface="Calibri" pitchFamily="34" charset="-120"/>
              </a:rPr>
              <a:t>Tích hợp với core banking thật</a:t>
            </a:r>
            <a:endParaRPr lang="en-US" sz="1600" dirty="0"/>
          </a:p>
        </p:txBody>
      </p:sp>
      <p:sp>
        <p:nvSpPr>
          <p:cNvPr id="11" name="Shape 9"/>
          <p:cNvSpPr/>
          <p:nvPr/>
        </p:nvSpPr>
        <p:spPr>
          <a:xfrm>
            <a:off x="457200" y="6537960"/>
            <a:ext cx="11274552" cy="4572"/>
          </a:xfrm>
          <a:prstGeom prst="rect">
            <a:avLst/>
          </a:prstGeom>
          <a:solidFill>
            <a:srgbClr val="E2E8F0"/>
          </a:solidFill>
          <a:ln/>
        </p:spPr>
      </p:sp>
      <p:sp>
        <p:nvSpPr>
          <p:cNvPr id="12" name="Text 10"/>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13" name="Text 11"/>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02 · Kiến trúc</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Kiến trúc pipeline 5 tầng</a:t>
            </a:r>
            <a:endParaRPr lang="en-US" sz="3000" dirty="0"/>
          </a:p>
        </p:txBody>
      </p:sp>
      <p:sp>
        <p:nvSpPr>
          <p:cNvPr id="5" name="Shape 3"/>
          <p:cNvSpPr/>
          <p:nvPr/>
        </p:nvSpPr>
        <p:spPr>
          <a:xfrm>
            <a:off x="790956" y="2011680"/>
            <a:ext cx="2011680" cy="16459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4"/>
          <p:cNvSpPr/>
          <p:nvPr/>
        </p:nvSpPr>
        <p:spPr>
          <a:xfrm>
            <a:off x="790956" y="2011680"/>
            <a:ext cx="2011680" cy="137160"/>
          </a:xfrm>
          <a:prstGeom prst="rect">
            <a:avLst/>
          </a:prstGeom>
          <a:solidFill>
            <a:srgbClr val="1E40AF"/>
          </a:solidFill>
          <a:ln/>
        </p:spPr>
      </p:sp>
      <p:sp>
        <p:nvSpPr>
          <p:cNvPr id="7" name="Text 5"/>
          <p:cNvSpPr/>
          <p:nvPr/>
        </p:nvSpPr>
        <p:spPr>
          <a:xfrm>
            <a:off x="790956" y="2286000"/>
            <a:ext cx="2011680" cy="274320"/>
          </a:xfrm>
          <a:prstGeom prst="rect">
            <a:avLst/>
          </a:prstGeom>
          <a:noFill/>
          <a:ln/>
        </p:spPr>
        <p:txBody>
          <a:bodyPr wrap="square" lIns="0" tIns="0" rIns="0" bIns="0" rtlCol="0" anchor="ctr"/>
          <a:lstStyle/>
          <a:p>
            <a:pPr algn="ctr" indent="0" marL="0">
              <a:buNone/>
            </a:pPr>
            <a:r>
              <a:rPr lang="en-US" sz="1100" b="1" spc="400" kern="0" dirty="0">
                <a:solidFill>
                  <a:srgbClr val="1E40AF"/>
                </a:solidFill>
                <a:latin typeface="Calibri" pitchFamily="34" charset="0"/>
                <a:ea typeface="Calibri" pitchFamily="34" charset="-122"/>
                <a:cs typeface="Calibri" pitchFamily="34" charset="-120"/>
              </a:rPr>
              <a:t>OLTP</a:t>
            </a:r>
            <a:endParaRPr lang="en-US" sz="1100" dirty="0"/>
          </a:p>
        </p:txBody>
      </p:sp>
      <p:sp>
        <p:nvSpPr>
          <p:cNvPr id="8" name="Text 6"/>
          <p:cNvSpPr/>
          <p:nvPr/>
        </p:nvSpPr>
        <p:spPr>
          <a:xfrm>
            <a:off x="790956" y="2606040"/>
            <a:ext cx="201168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PostgreSQL</a:t>
            </a:r>
            <a:endParaRPr lang="en-US" sz="1800" dirty="0"/>
          </a:p>
        </p:txBody>
      </p:sp>
      <p:sp>
        <p:nvSpPr>
          <p:cNvPr id="9" name="Text 7"/>
          <p:cNvSpPr/>
          <p:nvPr/>
        </p:nvSpPr>
        <p:spPr>
          <a:xfrm>
            <a:off x="790956" y="3154680"/>
            <a:ext cx="201168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:5432</a:t>
            </a:r>
            <a:endParaRPr lang="en-US" sz="1100" dirty="0"/>
          </a:p>
        </p:txBody>
      </p:sp>
      <p:sp>
        <p:nvSpPr>
          <p:cNvPr id="10" name="Text 8"/>
          <p:cNvSpPr/>
          <p:nvPr/>
        </p:nvSpPr>
        <p:spPr>
          <a:xfrm>
            <a:off x="790956" y="3383280"/>
            <a:ext cx="20116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Source</a:t>
            </a:r>
            <a:endParaRPr lang="en-US" sz="1000" dirty="0"/>
          </a:p>
        </p:txBody>
      </p:sp>
      <p:sp>
        <p:nvSpPr>
          <p:cNvPr id="11" name="Text 9"/>
          <p:cNvSpPr/>
          <p:nvPr/>
        </p:nvSpPr>
        <p:spPr>
          <a:xfrm>
            <a:off x="2807208" y="2651760"/>
            <a:ext cx="118872" cy="548640"/>
          </a:xfrm>
          <a:prstGeom prst="rect">
            <a:avLst/>
          </a:prstGeom>
          <a:noFill/>
          <a:ln/>
        </p:spPr>
        <p:txBody>
          <a:bodyPr wrap="square" lIns="0" tIns="0" rIns="0" bIns="0"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2939796" y="2011680"/>
            <a:ext cx="2011680" cy="16459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13" name="Shape 11"/>
          <p:cNvSpPr/>
          <p:nvPr/>
        </p:nvSpPr>
        <p:spPr>
          <a:xfrm>
            <a:off x="2939796" y="2011680"/>
            <a:ext cx="2011680" cy="137160"/>
          </a:xfrm>
          <a:prstGeom prst="rect">
            <a:avLst/>
          </a:prstGeom>
          <a:solidFill>
            <a:srgbClr val="0D9488"/>
          </a:solidFill>
          <a:ln/>
        </p:spPr>
      </p:sp>
      <p:sp>
        <p:nvSpPr>
          <p:cNvPr id="14" name="Text 12"/>
          <p:cNvSpPr/>
          <p:nvPr/>
        </p:nvSpPr>
        <p:spPr>
          <a:xfrm>
            <a:off x="2939796" y="2286000"/>
            <a:ext cx="2011680" cy="274320"/>
          </a:xfrm>
          <a:prstGeom prst="rect">
            <a:avLst/>
          </a:prstGeom>
          <a:noFill/>
          <a:ln/>
        </p:spPr>
        <p:txBody>
          <a:bodyPr wrap="square" lIns="0" tIns="0" rIns="0" bIns="0" rtlCol="0" anchor="ctr"/>
          <a:lstStyle/>
          <a:p>
            <a:pPr algn="ctr" indent="0" marL="0">
              <a:buNone/>
            </a:pPr>
            <a:r>
              <a:rPr lang="en-US" sz="1100" b="1" spc="400" kern="0" dirty="0">
                <a:solidFill>
                  <a:srgbClr val="0D9488"/>
                </a:solidFill>
                <a:latin typeface="Calibri" pitchFamily="34" charset="0"/>
                <a:ea typeface="Calibri" pitchFamily="34" charset="-122"/>
                <a:cs typeface="Calibri" pitchFamily="34" charset="-120"/>
              </a:rPr>
              <a:t>CDC</a:t>
            </a:r>
            <a:endParaRPr lang="en-US" sz="1100" dirty="0"/>
          </a:p>
        </p:txBody>
      </p:sp>
      <p:sp>
        <p:nvSpPr>
          <p:cNvPr id="15" name="Text 13"/>
          <p:cNvSpPr/>
          <p:nvPr/>
        </p:nvSpPr>
        <p:spPr>
          <a:xfrm>
            <a:off x="2939796" y="2606040"/>
            <a:ext cx="201168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Debezium</a:t>
            </a:r>
            <a:endParaRPr lang="en-US" sz="1800" dirty="0"/>
          </a:p>
        </p:txBody>
      </p:sp>
      <p:sp>
        <p:nvSpPr>
          <p:cNvPr id="16" name="Text 14"/>
          <p:cNvSpPr/>
          <p:nvPr/>
        </p:nvSpPr>
        <p:spPr>
          <a:xfrm>
            <a:off x="2939796" y="3154680"/>
            <a:ext cx="201168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:8083</a:t>
            </a:r>
            <a:endParaRPr lang="en-US" sz="1100" dirty="0"/>
          </a:p>
        </p:txBody>
      </p:sp>
      <p:sp>
        <p:nvSpPr>
          <p:cNvPr id="17" name="Text 15"/>
          <p:cNvSpPr/>
          <p:nvPr/>
        </p:nvSpPr>
        <p:spPr>
          <a:xfrm>
            <a:off x="2939796" y="3383280"/>
            <a:ext cx="20116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CDC stream</a:t>
            </a:r>
            <a:endParaRPr lang="en-US" sz="1000" dirty="0"/>
          </a:p>
        </p:txBody>
      </p:sp>
      <p:sp>
        <p:nvSpPr>
          <p:cNvPr id="18" name="Text 16"/>
          <p:cNvSpPr/>
          <p:nvPr/>
        </p:nvSpPr>
        <p:spPr>
          <a:xfrm>
            <a:off x="4956048" y="2651760"/>
            <a:ext cx="118872" cy="548640"/>
          </a:xfrm>
          <a:prstGeom prst="rect">
            <a:avLst/>
          </a:prstGeom>
          <a:noFill/>
          <a:ln/>
        </p:spPr>
        <p:txBody>
          <a:bodyPr wrap="square" lIns="0" tIns="0" rIns="0" bIns="0"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5088636" y="2011680"/>
            <a:ext cx="2011680" cy="16459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0" name="Shape 18"/>
          <p:cNvSpPr/>
          <p:nvPr/>
        </p:nvSpPr>
        <p:spPr>
          <a:xfrm>
            <a:off x="5088636" y="2011680"/>
            <a:ext cx="2011680" cy="137160"/>
          </a:xfrm>
          <a:prstGeom prst="rect">
            <a:avLst/>
          </a:prstGeom>
          <a:solidFill>
            <a:srgbClr val="8B5CF6"/>
          </a:solidFill>
          <a:ln/>
        </p:spPr>
      </p:sp>
      <p:sp>
        <p:nvSpPr>
          <p:cNvPr id="21" name="Text 19"/>
          <p:cNvSpPr/>
          <p:nvPr/>
        </p:nvSpPr>
        <p:spPr>
          <a:xfrm>
            <a:off x="5088636" y="2286000"/>
            <a:ext cx="2011680" cy="274320"/>
          </a:xfrm>
          <a:prstGeom prst="rect">
            <a:avLst/>
          </a:prstGeom>
          <a:noFill/>
          <a:ln/>
        </p:spPr>
        <p:txBody>
          <a:bodyPr wrap="square" lIns="0" tIns="0" rIns="0" bIns="0" rtlCol="0" anchor="ctr"/>
          <a:lstStyle/>
          <a:p>
            <a:pPr algn="ctr" indent="0" marL="0">
              <a:buNone/>
            </a:pPr>
            <a:r>
              <a:rPr lang="en-US" sz="1100" b="1" spc="400" kern="0" dirty="0">
                <a:solidFill>
                  <a:srgbClr val="8B5CF6"/>
                </a:solidFill>
                <a:latin typeface="Calibri" pitchFamily="34" charset="0"/>
                <a:ea typeface="Calibri" pitchFamily="34" charset="-122"/>
                <a:cs typeface="Calibri" pitchFamily="34" charset="-120"/>
              </a:rPr>
              <a:t>Broker</a:t>
            </a:r>
            <a:endParaRPr lang="en-US" sz="1100" dirty="0"/>
          </a:p>
        </p:txBody>
      </p:sp>
      <p:sp>
        <p:nvSpPr>
          <p:cNvPr id="22" name="Text 20"/>
          <p:cNvSpPr/>
          <p:nvPr/>
        </p:nvSpPr>
        <p:spPr>
          <a:xfrm>
            <a:off x="5088636" y="2606040"/>
            <a:ext cx="201168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Kafka</a:t>
            </a:r>
            <a:endParaRPr lang="en-US" sz="1800" dirty="0"/>
          </a:p>
        </p:txBody>
      </p:sp>
      <p:sp>
        <p:nvSpPr>
          <p:cNvPr id="23" name="Text 21"/>
          <p:cNvSpPr/>
          <p:nvPr/>
        </p:nvSpPr>
        <p:spPr>
          <a:xfrm>
            <a:off x="5088636" y="3154680"/>
            <a:ext cx="201168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:9092</a:t>
            </a:r>
            <a:endParaRPr lang="en-US" sz="1100" dirty="0"/>
          </a:p>
        </p:txBody>
      </p:sp>
      <p:sp>
        <p:nvSpPr>
          <p:cNvPr id="24" name="Text 22"/>
          <p:cNvSpPr/>
          <p:nvPr/>
        </p:nvSpPr>
        <p:spPr>
          <a:xfrm>
            <a:off x="5088636" y="3383280"/>
            <a:ext cx="20116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Buffer</a:t>
            </a:r>
            <a:endParaRPr lang="en-US" sz="1000" dirty="0"/>
          </a:p>
        </p:txBody>
      </p:sp>
      <p:sp>
        <p:nvSpPr>
          <p:cNvPr id="25" name="Text 23"/>
          <p:cNvSpPr/>
          <p:nvPr/>
        </p:nvSpPr>
        <p:spPr>
          <a:xfrm>
            <a:off x="7104888" y="2651760"/>
            <a:ext cx="118872" cy="548640"/>
          </a:xfrm>
          <a:prstGeom prst="rect">
            <a:avLst/>
          </a:prstGeom>
          <a:noFill/>
          <a:ln/>
        </p:spPr>
        <p:txBody>
          <a:bodyPr wrap="square" lIns="0" tIns="0" rIns="0" bIns="0"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26" name="Shape 24"/>
          <p:cNvSpPr/>
          <p:nvPr/>
        </p:nvSpPr>
        <p:spPr>
          <a:xfrm>
            <a:off x="7237476" y="2011680"/>
            <a:ext cx="2011680" cy="16459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27" name="Shape 25"/>
          <p:cNvSpPr/>
          <p:nvPr/>
        </p:nvSpPr>
        <p:spPr>
          <a:xfrm>
            <a:off x="7237476" y="2011680"/>
            <a:ext cx="2011680" cy="137160"/>
          </a:xfrm>
          <a:prstGeom prst="rect">
            <a:avLst/>
          </a:prstGeom>
          <a:solidFill>
            <a:srgbClr val="F59E0B"/>
          </a:solidFill>
          <a:ln/>
        </p:spPr>
      </p:sp>
      <p:sp>
        <p:nvSpPr>
          <p:cNvPr id="28" name="Text 26"/>
          <p:cNvSpPr/>
          <p:nvPr/>
        </p:nvSpPr>
        <p:spPr>
          <a:xfrm>
            <a:off x="7237476" y="2286000"/>
            <a:ext cx="2011680" cy="274320"/>
          </a:xfrm>
          <a:prstGeom prst="rect">
            <a:avLst/>
          </a:prstGeom>
          <a:noFill/>
          <a:ln/>
        </p:spPr>
        <p:txBody>
          <a:bodyPr wrap="square" lIns="0" tIns="0" rIns="0" bIns="0" rtlCol="0" anchor="ctr"/>
          <a:lstStyle/>
          <a:p>
            <a:pPr algn="ctr" indent="0" marL="0">
              <a:buNone/>
            </a:pPr>
            <a:r>
              <a:rPr lang="en-US" sz="1100" b="1" spc="400" kern="0" dirty="0">
                <a:solidFill>
                  <a:srgbClr val="F59E0B"/>
                </a:solidFill>
                <a:latin typeface="Calibri" pitchFamily="34" charset="0"/>
                <a:ea typeface="Calibri" pitchFamily="34" charset="-122"/>
                <a:cs typeface="Calibri" pitchFamily="34" charset="-120"/>
              </a:rPr>
              <a:t>OLAP</a:t>
            </a:r>
            <a:endParaRPr lang="en-US" sz="1100" dirty="0"/>
          </a:p>
        </p:txBody>
      </p:sp>
      <p:sp>
        <p:nvSpPr>
          <p:cNvPr id="29" name="Text 27"/>
          <p:cNvSpPr/>
          <p:nvPr/>
        </p:nvSpPr>
        <p:spPr>
          <a:xfrm>
            <a:off x="7237476" y="2606040"/>
            <a:ext cx="201168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ClickHouse</a:t>
            </a:r>
            <a:endParaRPr lang="en-US" sz="1800" dirty="0"/>
          </a:p>
        </p:txBody>
      </p:sp>
      <p:sp>
        <p:nvSpPr>
          <p:cNvPr id="30" name="Text 28"/>
          <p:cNvSpPr/>
          <p:nvPr/>
        </p:nvSpPr>
        <p:spPr>
          <a:xfrm>
            <a:off x="7237476" y="3154680"/>
            <a:ext cx="201168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:8123</a:t>
            </a:r>
            <a:endParaRPr lang="en-US" sz="1100" dirty="0"/>
          </a:p>
        </p:txBody>
      </p:sp>
      <p:sp>
        <p:nvSpPr>
          <p:cNvPr id="31" name="Text 29"/>
          <p:cNvSpPr/>
          <p:nvPr/>
        </p:nvSpPr>
        <p:spPr>
          <a:xfrm>
            <a:off x="7237476" y="3383280"/>
            <a:ext cx="20116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Sink</a:t>
            </a:r>
            <a:endParaRPr lang="en-US" sz="1000" dirty="0"/>
          </a:p>
        </p:txBody>
      </p:sp>
      <p:sp>
        <p:nvSpPr>
          <p:cNvPr id="32" name="Text 30"/>
          <p:cNvSpPr/>
          <p:nvPr/>
        </p:nvSpPr>
        <p:spPr>
          <a:xfrm>
            <a:off x="9253728" y="2651760"/>
            <a:ext cx="118872" cy="548640"/>
          </a:xfrm>
          <a:prstGeom prst="rect">
            <a:avLst/>
          </a:prstGeom>
          <a:noFill/>
          <a:ln/>
        </p:spPr>
        <p:txBody>
          <a:bodyPr wrap="square" lIns="0" tIns="0" rIns="0" bIns="0"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33" name="Shape 31"/>
          <p:cNvSpPr/>
          <p:nvPr/>
        </p:nvSpPr>
        <p:spPr>
          <a:xfrm>
            <a:off x="9386316" y="2011680"/>
            <a:ext cx="2011680" cy="16459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34" name="Shape 32"/>
          <p:cNvSpPr/>
          <p:nvPr/>
        </p:nvSpPr>
        <p:spPr>
          <a:xfrm>
            <a:off x="9386316" y="2011680"/>
            <a:ext cx="2011680" cy="137160"/>
          </a:xfrm>
          <a:prstGeom prst="rect">
            <a:avLst/>
          </a:prstGeom>
          <a:solidFill>
            <a:srgbClr val="10B981"/>
          </a:solidFill>
          <a:ln/>
        </p:spPr>
      </p:sp>
      <p:sp>
        <p:nvSpPr>
          <p:cNvPr id="35" name="Text 33"/>
          <p:cNvSpPr/>
          <p:nvPr/>
        </p:nvSpPr>
        <p:spPr>
          <a:xfrm>
            <a:off x="9386316" y="2286000"/>
            <a:ext cx="2011680" cy="274320"/>
          </a:xfrm>
          <a:prstGeom prst="rect">
            <a:avLst/>
          </a:prstGeom>
          <a:noFill/>
          <a:ln/>
        </p:spPr>
        <p:txBody>
          <a:bodyPr wrap="square" lIns="0" tIns="0" rIns="0" bIns="0" rtlCol="0" anchor="ctr"/>
          <a:lstStyle/>
          <a:p>
            <a:pPr algn="ctr" indent="0" marL="0">
              <a:buNone/>
            </a:pPr>
            <a:r>
              <a:rPr lang="en-US" sz="1100" b="1" spc="400" kern="0" dirty="0">
                <a:solidFill>
                  <a:srgbClr val="10B981"/>
                </a:solidFill>
                <a:latin typeface="Calibri" pitchFamily="34" charset="0"/>
                <a:ea typeface="Calibri" pitchFamily="34" charset="-122"/>
                <a:cs typeface="Calibri" pitchFamily="34" charset="-120"/>
              </a:rPr>
              <a:t>Dashboard</a:t>
            </a:r>
            <a:endParaRPr lang="en-US" sz="1100" dirty="0"/>
          </a:p>
        </p:txBody>
      </p:sp>
      <p:sp>
        <p:nvSpPr>
          <p:cNvPr id="36" name="Text 34"/>
          <p:cNvSpPr/>
          <p:nvPr/>
        </p:nvSpPr>
        <p:spPr>
          <a:xfrm>
            <a:off x="9386316" y="2606040"/>
            <a:ext cx="201168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Grafana</a:t>
            </a:r>
            <a:endParaRPr lang="en-US" sz="1800" dirty="0"/>
          </a:p>
        </p:txBody>
      </p:sp>
      <p:sp>
        <p:nvSpPr>
          <p:cNvPr id="37" name="Text 35"/>
          <p:cNvSpPr/>
          <p:nvPr/>
        </p:nvSpPr>
        <p:spPr>
          <a:xfrm>
            <a:off x="9386316" y="3154680"/>
            <a:ext cx="201168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:3000</a:t>
            </a:r>
            <a:endParaRPr lang="en-US" sz="1100" dirty="0"/>
          </a:p>
        </p:txBody>
      </p:sp>
      <p:sp>
        <p:nvSpPr>
          <p:cNvPr id="38" name="Text 36"/>
          <p:cNvSpPr/>
          <p:nvPr/>
        </p:nvSpPr>
        <p:spPr>
          <a:xfrm>
            <a:off x="9386316" y="3383280"/>
            <a:ext cx="201168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Visualize</a:t>
            </a:r>
            <a:endParaRPr lang="en-US" sz="1000" dirty="0"/>
          </a:p>
        </p:txBody>
      </p:sp>
      <p:sp>
        <p:nvSpPr>
          <p:cNvPr id="39" name="Shape 37"/>
          <p:cNvSpPr/>
          <p:nvPr/>
        </p:nvSpPr>
        <p:spPr>
          <a:xfrm>
            <a:off x="548640" y="4114800"/>
            <a:ext cx="11091672" cy="1645920"/>
          </a:xfrm>
          <a:prstGeom prst="rect">
            <a:avLst/>
          </a:prstGeom>
          <a:solidFill>
            <a:srgbClr val="FFFFFF"/>
          </a:solidFill>
          <a:ln w="12700">
            <a:solidFill>
              <a:srgbClr val="E2E8F0"/>
            </a:solidFill>
            <a:prstDash val="solid"/>
          </a:ln>
        </p:spPr>
      </p:sp>
      <p:sp>
        <p:nvSpPr>
          <p:cNvPr id="40" name="Text 38"/>
          <p:cNvSpPr/>
          <p:nvPr/>
        </p:nvSpPr>
        <p:spPr>
          <a:xfrm>
            <a:off x="777240" y="4251960"/>
            <a:ext cx="3657600" cy="320040"/>
          </a:xfrm>
          <a:prstGeom prst="rect">
            <a:avLst/>
          </a:prstGeom>
          <a:noFill/>
          <a:ln/>
        </p:spPr>
        <p:txBody>
          <a:bodyPr wrap="square" lIns="0" tIns="0" rIns="0" bIns="0" rtlCol="0" anchor="ctr"/>
          <a:lstStyle/>
          <a:p>
            <a:pPr indent="0" marL="0">
              <a:buNone/>
            </a:pPr>
            <a:r>
              <a:rPr lang="en-US" sz="1200" b="1" spc="400" kern="0" dirty="0">
                <a:solidFill>
                  <a:srgbClr val="0D9488"/>
                </a:solidFill>
                <a:latin typeface="Calibri" pitchFamily="34" charset="0"/>
                <a:ea typeface="Calibri" pitchFamily="34" charset="-122"/>
                <a:cs typeface="Calibri" pitchFamily="34" charset="-120"/>
              </a:rPr>
              <a:t>Luồng dữ liệu</a:t>
            </a:r>
            <a:endParaRPr lang="en-US" sz="1200" dirty="0"/>
          </a:p>
        </p:txBody>
      </p:sp>
      <p:sp>
        <p:nvSpPr>
          <p:cNvPr id="41" name="Text 39"/>
          <p:cNvSpPr/>
          <p:nvPr/>
        </p:nvSpPr>
        <p:spPr>
          <a:xfrm>
            <a:off x="777240" y="4572000"/>
            <a:ext cx="10515600" cy="1143000"/>
          </a:xfrm>
          <a:prstGeom prst="rect">
            <a:avLst/>
          </a:prstGeom>
          <a:noFill/>
          <a:ln/>
        </p:spPr>
        <p:txBody>
          <a:bodyPr wrap="square" lIns="0" tIns="0" rIns="0" bIns="0" rtlCol="0" anchor="ctr"/>
          <a:lstStyle/>
          <a:p>
            <a:pPr indent="0" marL="0">
              <a:spcAft>
                <a:spcPts val="400"/>
              </a:spcAft>
              <a:buNone/>
            </a:pPr>
            <a:r>
              <a:rPr lang="en-US" sz="1300" b="1" dirty="0">
                <a:solidFill>
                  <a:srgbClr val="1E40AF"/>
                </a:solidFill>
                <a:latin typeface="Calibri" pitchFamily="34" charset="0"/>
                <a:ea typeface="Calibri" pitchFamily="34" charset="-122"/>
                <a:cs typeface="Calibri" pitchFamily="34" charset="-120"/>
              </a:rPr>
              <a:t>1. </a:t>
            </a:r>
            <a:pPr indent="0" marL="0">
              <a:spcAft>
                <a:spcPts val="400"/>
              </a:spcAft>
              <a:buNone/>
            </a:pPr>
            <a:r>
              <a:rPr lang="en-US" sz="1300" dirty="0">
                <a:solidFill>
                  <a:srgbClr val="0F172A"/>
                </a:solidFill>
                <a:latin typeface="Calibri" pitchFamily="34" charset="0"/>
                <a:ea typeface="Calibri" pitchFamily="34" charset="-122"/>
                <a:cs typeface="Calibri" pitchFamily="34" charset="-120"/>
              </a:rPr>
              <a:t>Giao dịch ghi vào PostgreSQL (OLTP).</a:t>
            </a:r>
            <a:endParaRPr lang="en-US" sz="1300" dirty="0"/>
          </a:p>
          <a:p>
            <a:pPr indent="0" marL="0">
              <a:spcAft>
                <a:spcPts val="400"/>
              </a:spcAft>
              <a:buNone/>
            </a:pPr>
            <a:r>
              <a:rPr lang="en-US" sz="1300" b="1" dirty="0">
                <a:solidFill>
                  <a:srgbClr val="1E40AF"/>
                </a:solidFill>
                <a:latin typeface="Calibri" pitchFamily="34" charset="0"/>
                <a:ea typeface="Calibri" pitchFamily="34" charset="-122"/>
                <a:cs typeface="Calibri" pitchFamily="34" charset="-120"/>
              </a:rPr>
              <a:t>2. </a:t>
            </a:r>
            <a:pPr indent="0" marL="0">
              <a:spcAft>
                <a:spcPts val="400"/>
              </a:spcAft>
              <a:buNone/>
            </a:pPr>
            <a:r>
              <a:rPr lang="en-US" sz="1300" dirty="0">
                <a:solidFill>
                  <a:srgbClr val="0F172A"/>
                </a:solidFill>
                <a:latin typeface="Calibri" pitchFamily="34" charset="0"/>
                <a:ea typeface="Calibri" pitchFamily="34" charset="-122"/>
                <a:cs typeface="Calibri" pitchFamily="34" charset="-120"/>
              </a:rPr>
              <a:t>Debezium đọc WAL (write-ahead log) → không lock bảng nguồn.</a:t>
            </a:r>
            <a:endParaRPr lang="en-US" sz="1300" dirty="0"/>
          </a:p>
          <a:p>
            <a:pPr indent="0" marL="0">
              <a:spcAft>
                <a:spcPts val="400"/>
              </a:spcAft>
              <a:buNone/>
            </a:pPr>
            <a:r>
              <a:rPr lang="en-US" sz="1300" b="1" dirty="0">
                <a:solidFill>
                  <a:srgbClr val="1E40AF"/>
                </a:solidFill>
                <a:latin typeface="Calibri" pitchFamily="34" charset="0"/>
                <a:ea typeface="Calibri" pitchFamily="34" charset="-122"/>
                <a:cs typeface="Calibri" pitchFamily="34" charset="-120"/>
              </a:rPr>
              <a:t>3. </a:t>
            </a:r>
            <a:pPr indent="0" marL="0">
              <a:spcAft>
                <a:spcPts val="400"/>
              </a:spcAft>
              <a:buNone/>
            </a:pPr>
            <a:r>
              <a:rPr lang="en-US" sz="1300" dirty="0">
                <a:solidFill>
                  <a:srgbClr val="0F172A"/>
                </a:solidFill>
                <a:latin typeface="Calibri" pitchFamily="34" charset="0"/>
                <a:ea typeface="Calibri" pitchFamily="34" charset="-122"/>
                <a:cs typeface="Calibri" pitchFamily="34" charset="-120"/>
              </a:rPr>
              <a:t>Event JSON đẩy vào Kafka topic — buffer + fan-out cho nhiều consumer.</a:t>
            </a:r>
            <a:endParaRPr lang="en-US" sz="1300" dirty="0"/>
          </a:p>
          <a:p>
            <a:pPr indent="0" marL="0">
              <a:spcAft>
                <a:spcPts val="400"/>
              </a:spcAft>
              <a:buNone/>
            </a:pPr>
            <a:r>
              <a:rPr lang="en-US" sz="1300" b="1" dirty="0">
                <a:solidFill>
                  <a:srgbClr val="1E40AF"/>
                </a:solidFill>
                <a:latin typeface="Calibri" pitchFamily="34" charset="0"/>
                <a:ea typeface="Calibri" pitchFamily="34" charset="-122"/>
                <a:cs typeface="Calibri" pitchFamily="34" charset="-120"/>
              </a:rPr>
              <a:t>4. </a:t>
            </a:r>
            <a:pPr indent="0" marL="0">
              <a:spcAft>
                <a:spcPts val="400"/>
              </a:spcAft>
              <a:buNone/>
            </a:pPr>
            <a:r>
              <a:rPr lang="en-US" sz="1300" dirty="0">
                <a:solidFill>
                  <a:srgbClr val="0F172A"/>
                </a:solidFill>
                <a:latin typeface="Calibri" pitchFamily="34" charset="0"/>
                <a:ea typeface="Calibri" pitchFamily="34" charset="-122"/>
                <a:cs typeface="Calibri" pitchFamily="34" charset="-120"/>
              </a:rPr>
              <a:t>ClickHouse Kafka Engine + Materialized View tự động consume + transform.</a:t>
            </a:r>
            <a:endParaRPr lang="en-US" sz="1300" dirty="0"/>
          </a:p>
          <a:p>
            <a:pPr indent="0" marL="0">
              <a:spcAft>
                <a:spcPts val="400"/>
              </a:spcAft>
              <a:buNone/>
            </a:pPr>
            <a:r>
              <a:rPr lang="en-US" sz="1300" b="1" dirty="0">
                <a:solidFill>
                  <a:srgbClr val="1E40AF"/>
                </a:solidFill>
                <a:latin typeface="Calibri" pitchFamily="34" charset="0"/>
                <a:ea typeface="Calibri" pitchFamily="34" charset="-122"/>
                <a:cs typeface="Calibri" pitchFamily="34" charset="-120"/>
              </a:rPr>
              <a:t>5. </a:t>
            </a:r>
            <a:pPr indent="0" marL="0">
              <a:spcAft>
                <a:spcPts val="400"/>
              </a:spcAft>
              <a:buNone/>
            </a:pPr>
            <a:r>
              <a:rPr lang="en-US" sz="1300" dirty="0">
                <a:solidFill>
                  <a:srgbClr val="0F172A"/>
                </a:solidFill>
                <a:latin typeface="Calibri" pitchFamily="34" charset="0"/>
                <a:ea typeface="Calibri" pitchFamily="34" charset="-122"/>
                <a:cs typeface="Calibri" pitchFamily="34" charset="-120"/>
              </a:rPr>
              <a:t>Grafana query ClickHouse, hiển thị dashboard + trigger alert.</a:t>
            </a:r>
            <a:endParaRPr lang="en-US" sz="1300" dirty="0"/>
          </a:p>
        </p:txBody>
      </p:sp>
      <p:sp>
        <p:nvSpPr>
          <p:cNvPr id="42" name="Shape 40"/>
          <p:cNvSpPr/>
          <p:nvPr/>
        </p:nvSpPr>
        <p:spPr>
          <a:xfrm>
            <a:off x="457200" y="6537960"/>
            <a:ext cx="11274552" cy="4572"/>
          </a:xfrm>
          <a:prstGeom prst="rect">
            <a:avLst/>
          </a:prstGeom>
          <a:solidFill>
            <a:srgbClr val="E2E8F0"/>
          </a:solidFill>
          <a:ln/>
        </p:spPr>
      </p:sp>
      <p:sp>
        <p:nvSpPr>
          <p:cNvPr id="43" name="Text 41"/>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44" name="Text 42"/>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02 · Kiến trúc</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Vì sao chọn stack này</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645920"/>
                <a:gridCol w="2103120"/>
                <a:gridCol w="3200400"/>
                <a:gridCol w="4142232"/>
              </a:tblGrid>
              <a:tr h="502920">
                <a:tc>
                  <a:txBody>
                    <a:bodyPr/>
                    <a:lstStyle/>
                    <a:p>
                      <a:pPr algn="l" indent="0" marL="0">
                        <a:buNone/>
                      </a:pPr>
                      <a:r>
                        <a:rPr lang="en-US" sz="1300" b="1" dirty="0">
                          <a:solidFill>
                            <a:srgbClr val="F8FAFC"/>
                          </a:solidFill>
                          <a:latin typeface="Calibri" pitchFamily="34" charset="0"/>
                          <a:ea typeface="Calibri" pitchFamily="34" charset="-122"/>
                          <a:cs typeface="Calibri" pitchFamily="34" charset="-120"/>
                        </a:rPr>
                        <a:t>Thành phần</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l" indent="0" marL="0">
                        <a:buNone/>
                      </a:pPr>
                      <a:r>
                        <a:rPr lang="en-US" sz="1300" b="1" dirty="0">
                          <a:solidFill>
                            <a:srgbClr val="F8FAFC"/>
                          </a:solidFill>
                          <a:latin typeface="Calibri" pitchFamily="34" charset="0"/>
                          <a:ea typeface="Calibri" pitchFamily="34" charset="-122"/>
                          <a:cs typeface="Calibri" pitchFamily="34" charset="-120"/>
                        </a:rPr>
                        <a:t>Lựa chọn</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l" indent="0" marL="0">
                        <a:buNone/>
                      </a:pPr>
                      <a:r>
                        <a:rPr lang="en-US" sz="1300" b="1" dirty="0">
                          <a:solidFill>
                            <a:srgbClr val="F8FAFC"/>
                          </a:solidFill>
                          <a:latin typeface="Calibri" pitchFamily="34" charset="0"/>
                          <a:ea typeface="Calibri" pitchFamily="34" charset="-122"/>
                          <a:cs typeface="Calibri" pitchFamily="34" charset="-120"/>
                        </a:rPr>
                        <a:t>Cân nhắc khác</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l" indent="0" marL="0">
                        <a:buNone/>
                      </a:pPr>
                      <a:r>
                        <a:rPr lang="en-US" sz="1300" b="1" dirty="0">
                          <a:solidFill>
                            <a:srgbClr val="F8FAFC"/>
                          </a:solidFill>
                          <a:latin typeface="Calibri" pitchFamily="34" charset="0"/>
                          <a:ea typeface="Calibri" pitchFamily="34" charset="-122"/>
                          <a:cs typeface="Calibri" pitchFamily="34" charset="-120"/>
                        </a:rPr>
                        <a:t>Lý do chọn</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CDC tool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40AF"/>
                          </a:solidFill>
                          <a:latin typeface="Calibri" pitchFamily="34" charset="0"/>
                          <a:ea typeface="Calibri" pitchFamily="34" charset="-122"/>
                          <a:cs typeface="Calibri" pitchFamily="34" charset="-120"/>
                        </a:rPr>
                        <a:t>Debezium 2.5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Maxwell, AWS DMS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Open-source, hỗ trợ PG tốt nhất, JSON-ready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Broker</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b="1" dirty="0">
                          <a:solidFill>
                            <a:srgbClr val="1E40AF"/>
                          </a:solidFill>
                          <a:latin typeface="Calibri" pitchFamily="34" charset="0"/>
                          <a:ea typeface="Calibri" pitchFamily="34" charset="-122"/>
                          <a:cs typeface="Calibri" pitchFamily="34" charset="-120"/>
                        </a:rPr>
                        <a:t>Apache Kafka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RabbitMQ, Redis Streams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Log bất biến, replay được, nhiều consumer</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OLAP DB</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40AF"/>
                          </a:solidFill>
                          <a:latin typeface="Calibri" pitchFamily="34" charset="0"/>
                          <a:ea typeface="Calibri" pitchFamily="34" charset="-122"/>
                          <a:cs typeface="Calibri" pitchFamily="34" charset="-120"/>
                        </a:rPr>
                        <a:t>ClickHouse 24.3</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Druid, TimescaleDB, BigQuery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Columnar siêu nhanh, miễn phí, query nhẹ</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Dashboard</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b="1" dirty="0">
                          <a:solidFill>
                            <a:srgbClr val="1E40AF"/>
                          </a:solidFill>
                          <a:latin typeface="Calibri" pitchFamily="34" charset="0"/>
                          <a:ea typeface="Calibri" pitchFamily="34" charset="-122"/>
                          <a:cs typeface="Calibri" pitchFamily="34" charset="-120"/>
                        </a:rPr>
                        <a:t>Grafana 10</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Metabase, Superset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Native ClickHouse plugin, alert mạnh</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Serialization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40AF"/>
                          </a:solidFill>
                          <a:latin typeface="Calibri" pitchFamily="34" charset="0"/>
                          <a:ea typeface="Calibri" pitchFamily="34" charset="-122"/>
                          <a:cs typeface="Calibri" pitchFamily="34" charset="-120"/>
                        </a:rPr>
                        <a:t>JSON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Avro + Schema Registry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Đơn giản, dễ debug — production nên Avro</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120640"/>
            <a:ext cx="11091672" cy="1097280"/>
          </a:xfrm>
          <a:prstGeom prst="rect">
            <a:avLst/>
          </a:prstGeom>
          <a:solidFill>
            <a:srgbClr val="DBEAFE"/>
          </a:solidFill>
          <a:ln/>
        </p:spPr>
      </p:sp>
      <p:sp>
        <p:nvSpPr>
          <p:cNvPr id="7" name="Shape 4"/>
          <p:cNvSpPr/>
          <p:nvPr/>
        </p:nvSpPr>
        <p:spPr>
          <a:xfrm>
            <a:off x="548640" y="5120640"/>
            <a:ext cx="91440" cy="1097280"/>
          </a:xfrm>
          <a:prstGeom prst="rect">
            <a:avLst/>
          </a:prstGeom>
          <a:solidFill>
            <a:srgbClr val="1E40AF"/>
          </a:solidFill>
          <a:ln/>
        </p:spPr>
      </p:sp>
      <p:sp>
        <p:nvSpPr>
          <p:cNvPr id="8" name="Text 5"/>
          <p:cNvSpPr/>
          <p:nvPr/>
        </p:nvSpPr>
        <p:spPr>
          <a:xfrm>
            <a:off x="822960" y="5212080"/>
            <a:ext cx="10698480" cy="274320"/>
          </a:xfrm>
          <a:prstGeom prst="rect">
            <a:avLst/>
          </a:prstGeom>
          <a:noFill/>
          <a:ln/>
        </p:spPr>
        <p:txBody>
          <a:bodyPr wrap="square" lIns="0" tIns="0" rIns="0" bIns="0" rtlCol="0" anchor="ctr"/>
          <a:lstStyle/>
          <a:p>
            <a:pPr indent="0" marL="0">
              <a:buNone/>
            </a:pPr>
            <a:r>
              <a:rPr lang="en-US" sz="1200" b="1" spc="400" kern="0" dirty="0">
                <a:solidFill>
                  <a:srgbClr val="1E3A8A"/>
                </a:solidFill>
                <a:latin typeface="Calibri" pitchFamily="34" charset="0"/>
                <a:ea typeface="Calibri" pitchFamily="34" charset="-122"/>
                <a:cs typeface="Calibri" pitchFamily="34" charset="-120"/>
              </a:rPr>
              <a:t>Nguyên lý quyết định</a:t>
            </a:r>
            <a:endParaRPr lang="en-US" sz="1200" dirty="0"/>
          </a:p>
        </p:txBody>
      </p:sp>
      <p:sp>
        <p:nvSpPr>
          <p:cNvPr id="9" name="Text 6"/>
          <p:cNvSpPr/>
          <p:nvPr/>
        </p:nvSpPr>
        <p:spPr>
          <a:xfrm>
            <a:off x="822960" y="5532120"/>
            <a:ext cx="1069848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Mỗi thành phần được chọn dựa trên: (1) phù hợp với workload streaming, (2) mã nguồn mở để phù hợp ngân hàng vừa-nhỏ, (3) cộng đồng &amp; tài liệu mạnh, (4) khả năng mở rộng ngang khi cần.</a:t>
            </a:r>
            <a:endParaRPr lang="en-US" sz="1200" dirty="0"/>
          </a:p>
        </p:txBody>
      </p:sp>
      <p:sp>
        <p:nvSpPr>
          <p:cNvPr id="10" name="Shape 7"/>
          <p:cNvSpPr/>
          <p:nvPr/>
        </p:nvSpPr>
        <p:spPr>
          <a:xfrm>
            <a:off x="457200" y="6537960"/>
            <a:ext cx="11274552" cy="4572"/>
          </a:xfrm>
          <a:prstGeom prst="rect">
            <a:avLst/>
          </a:prstGeom>
          <a:solidFill>
            <a:srgbClr val="E2E8F0"/>
          </a:solidFill>
          <a:ln/>
        </p:spPr>
      </p:sp>
      <p:sp>
        <p:nvSpPr>
          <p:cNvPr id="11" name="Text 8"/>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12" name="Text 9"/>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02 · Kiến trúc</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Change Data Capture — cách hoạt động</a:t>
            </a:r>
            <a:endParaRPr lang="en-US" sz="3000" dirty="0"/>
          </a:p>
        </p:txBody>
      </p:sp>
      <p:sp>
        <p:nvSpPr>
          <p:cNvPr id="5" name="Text 3"/>
          <p:cNvSpPr/>
          <p:nvPr/>
        </p:nvSpPr>
        <p:spPr>
          <a:xfrm>
            <a:off x="548640" y="164592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Hành trình của một giao dịch</a:t>
            </a:r>
            <a:endParaRPr lang="en-US" sz="1600" dirty="0"/>
          </a:p>
        </p:txBody>
      </p:sp>
      <p:sp>
        <p:nvSpPr>
          <p:cNvPr id="6" name="Shape 4"/>
          <p:cNvSpPr/>
          <p:nvPr/>
        </p:nvSpPr>
        <p:spPr>
          <a:xfrm>
            <a:off x="548640" y="2103120"/>
            <a:ext cx="1005840" cy="320040"/>
          </a:xfrm>
          <a:prstGeom prst="rect">
            <a:avLst/>
          </a:prstGeom>
          <a:solidFill>
            <a:srgbClr val="0D9488"/>
          </a:solidFill>
          <a:ln/>
        </p:spPr>
      </p:sp>
      <p:sp>
        <p:nvSpPr>
          <p:cNvPr id="7" name="Text 5"/>
          <p:cNvSpPr/>
          <p:nvPr/>
        </p:nvSpPr>
        <p:spPr>
          <a:xfrm>
            <a:off x="548640" y="2103120"/>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T+0ms</a:t>
            </a:r>
            <a:endParaRPr lang="en-US" sz="1100" dirty="0"/>
          </a:p>
        </p:txBody>
      </p:sp>
      <p:sp>
        <p:nvSpPr>
          <p:cNvPr id="8" name="Text 6"/>
          <p:cNvSpPr/>
          <p:nvPr/>
        </p:nvSpPr>
        <p:spPr>
          <a:xfrm>
            <a:off x="1691640" y="2103120"/>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App</a:t>
            </a:r>
            <a:endParaRPr lang="en-US" sz="1200" dirty="0"/>
          </a:p>
        </p:txBody>
      </p:sp>
      <p:sp>
        <p:nvSpPr>
          <p:cNvPr id="9" name="Text 7"/>
          <p:cNvSpPr/>
          <p:nvPr/>
        </p:nvSpPr>
        <p:spPr>
          <a:xfrm>
            <a:off x="3017520" y="2103120"/>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INSERT INTO transactions ...</a:t>
            </a:r>
            <a:endParaRPr lang="en-US" sz="1100" dirty="0"/>
          </a:p>
        </p:txBody>
      </p:sp>
      <p:sp>
        <p:nvSpPr>
          <p:cNvPr id="10" name="Shape 8"/>
          <p:cNvSpPr/>
          <p:nvPr/>
        </p:nvSpPr>
        <p:spPr>
          <a:xfrm>
            <a:off x="548640" y="2578608"/>
            <a:ext cx="1005840" cy="320040"/>
          </a:xfrm>
          <a:prstGeom prst="rect">
            <a:avLst/>
          </a:prstGeom>
          <a:solidFill>
            <a:srgbClr val="0D9488"/>
          </a:solidFill>
          <a:ln/>
        </p:spPr>
      </p:sp>
      <p:sp>
        <p:nvSpPr>
          <p:cNvPr id="11" name="Text 9"/>
          <p:cNvSpPr/>
          <p:nvPr/>
        </p:nvSpPr>
        <p:spPr>
          <a:xfrm>
            <a:off x="548640" y="2578608"/>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T+5ms</a:t>
            </a:r>
            <a:endParaRPr lang="en-US" sz="1100" dirty="0"/>
          </a:p>
        </p:txBody>
      </p:sp>
      <p:sp>
        <p:nvSpPr>
          <p:cNvPr id="12" name="Text 10"/>
          <p:cNvSpPr/>
          <p:nvPr/>
        </p:nvSpPr>
        <p:spPr>
          <a:xfrm>
            <a:off x="1691640" y="2578608"/>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PostgreSQL</a:t>
            </a:r>
            <a:endParaRPr lang="en-US" sz="1200" dirty="0"/>
          </a:p>
        </p:txBody>
      </p:sp>
      <p:sp>
        <p:nvSpPr>
          <p:cNvPr id="13" name="Text 11"/>
          <p:cNvSpPr/>
          <p:nvPr/>
        </p:nvSpPr>
        <p:spPr>
          <a:xfrm>
            <a:off x="3017520" y="2578608"/>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Ghi WAL trước khi áp lên bảng</a:t>
            </a:r>
            <a:endParaRPr lang="en-US" sz="1100" dirty="0"/>
          </a:p>
        </p:txBody>
      </p:sp>
      <p:sp>
        <p:nvSpPr>
          <p:cNvPr id="14" name="Shape 12"/>
          <p:cNvSpPr/>
          <p:nvPr/>
        </p:nvSpPr>
        <p:spPr>
          <a:xfrm>
            <a:off x="548640" y="3054096"/>
            <a:ext cx="1005840" cy="320040"/>
          </a:xfrm>
          <a:prstGeom prst="rect">
            <a:avLst/>
          </a:prstGeom>
          <a:solidFill>
            <a:srgbClr val="0D9488"/>
          </a:solidFill>
          <a:ln/>
        </p:spPr>
      </p:sp>
      <p:sp>
        <p:nvSpPr>
          <p:cNvPr id="15" name="Text 13"/>
          <p:cNvSpPr/>
          <p:nvPr/>
        </p:nvSpPr>
        <p:spPr>
          <a:xfrm>
            <a:off x="548640" y="3054096"/>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T+20ms</a:t>
            </a:r>
            <a:endParaRPr lang="en-US" sz="1100" dirty="0"/>
          </a:p>
        </p:txBody>
      </p:sp>
      <p:sp>
        <p:nvSpPr>
          <p:cNvPr id="16" name="Text 14"/>
          <p:cNvSpPr/>
          <p:nvPr/>
        </p:nvSpPr>
        <p:spPr>
          <a:xfrm>
            <a:off x="1691640" y="3054096"/>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Debezium</a:t>
            </a:r>
            <a:endParaRPr lang="en-US" sz="1200" dirty="0"/>
          </a:p>
        </p:txBody>
      </p:sp>
      <p:sp>
        <p:nvSpPr>
          <p:cNvPr id="17" name="Text 15"/>
          <p:cNvSpPr/>
          <p:nvPr/>
        </p:nvSpPr>
        <p:spPr>
          <a:xfrm>
            <a:off x="3017520" y="3054096"/>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Đọc WAL qua pgoutput plugin</a:t>
            </a:r>
            <a:endParaRPr lang="en-US" sz="1100" dirty="0"/>
          </a:p>
        </p:txBody>
      </p:sp>
      <p:sp>
        <p:nvSpPr>
          <p:cNvPr id="18" name="Shape 16"/>
          <p:cNvSpPr/>
          <p:nvPr/>
        </p:nvSpPr>
        <p:spPr>
          <a:xfrm>
            <a:off x="548640" y="3529584"/>
            <a:ext cx="1005840" cy="320040"/>
          </a:xfrm>
          <a:prstGeom prst="rect">
            <a:avLst/>
          </a:prstGeom>
          <a:solidFill>
            <a:srgbClr val="0D9488"/>
          </a:solidFill>
          <a:ln/>
        </p:spPr>
      </p:sp>
      <p:sp>
        <p:nvSpPr>
          <p:cNvPr id="19" name="Text 17"/>
          <p:cNvSpPr/>
          <p:nvPr/>
        </p:nvSpPr>
        <p:spPr>
          <a:xfrm>
            <a:off x="548640" y="3529584"/>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T+100ms</a:t>
            </a:r>
            <a:endParaRPr lang="en-US" sz="1100" dirty="0"/>
          </a:p>
        </p:txBody>
      </p:sp>
      <p:sp>
        <p:nvSpPr>
          <p:cNvPr id="20" name="Text 18"/>
          <p:cNvSpPr/>
          <p:nvPr/>
        </p:nvSpPr>
        <p:spPr>
          <a:xfrm>
            <a:off x="1691640" y="3529584"/>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Debezium</a:t>
            </a:r>
            <a:endParaRPr lang="en-US" sz="1200" dirty="0"/>
          </a:p>
        </p:txBody>
      </p:sp>
      <p:sp>
        <p:nvSpPr>
          <p:cNvPr id="21" name="Text 19"/>
          <p:cNvSpPr/>
          <p:nvPr/>
        </p:nvSpPr>
        <p:spPr>
          <a:xfrm>
            <a:off x="3017520" y="3529584"/>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Transform → JSON message</a:t>
            </a:r>
            <a:endParaRPr lang="en-US" sz="1100" dirty="0"/>
          </a:p>
        </p:txBody>
      </p:sp>
      <p:sp>
        <p:nvSpPr>
          <p:cNvPr id="22" name="Shape 20"/>
          <p:cNvSpPr/>
          <p:nvPr/>
        </p:nvSpPr>
        <p:spPr>
          <a:xfrm>
            <a:off x="548640" y="4005072"/>
            <a:ext cx="1005840" cy="320040"/>
          </a:xfrm>
          <a:prstGeom prst="rect">
            <a:avLst/>
          </a:prstGeom>
          <a:solidFill>
            <a:srgbClr val="0D9488"/>
          </a:solidFill>
          <a:ln/>
        </p:spPr>
      </p:sp>
      <p:sp>
        <p:nvSpPr>
          <p:cNvPr id="23" name="Text 21"/>
          <p:cNvSpPr/>
          <p:nvPr/>
        </p:nvSpPr>
        <p:spPr>
          <a:xfrm>
            <a:off x="548640" y="4005072"/>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T+150ms</a:t>
            </a:r>
            <a:endParaRPr lang="en-US" sz="1100" dirty="0"/>
          </a:p>
        </p:txBody>
      </p:sp>
      <p:sp>
        <p:nvSpPr>
          <p:cNvPr id="24" name="Text 22"/>
          <p:cNvSpPr/>
          <p:nvPr/>
        </p:nvSpPr>
        <p:spPr>
          <a:xfrm>
            <a:off x="1691640" y="4005072"/>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Kafka</a:t>
            </a:r>
            <a:endParaRPr lang="en-US" sz="1200" dirty="0"/>
          </a:p>
        </p:txBody>
      </p:sp>
      <p:sp>
        <p:nvSpPr>
          <p:cNvPr id="25" name="Text 23"/>
          <p:cNvSpPr/>
          <p:nvPr/>
        </p:nvSpPr>
        <p:spPr>
          <a:xfrm>
            <a:off x="3017520" y="4005072"/>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Persist vào topic finwatch.public.transactions</a:t>
            </a:r>
            <a:endParaRPr lang="en-US" sz="1100" dirty="0"/>
          </a:p>
        </p:txBody>
      </p:sp>
      <p:sp>
        <p:nvSpPr>
          <p:cNvPr id="26" name="Shape 24"/>
          <p:cNvSpPr/>
          <p:nvPr/>
        </p:nvSpPr>
        <p:spPr>
          <a:xfrm>
            <a:off x="548640" y="4480560"/>
            <a:ext cx="1005840" cy="320040"/>
          </a:xfrm>
          <a:prstGeom prst="rect">
            <a:avLst/>
          </a:prstGeom>
          <a:solidFill>
            <a:srgbClr val="0D9488"/>
          </a:solidFill>
          <a:ln/>
        </p:spPr>
      </p:sp>
      <p:sp>
        <p:nvSpPr>
          <p:cNvPr id="27" name="Text 25"/>
          <p:cNvSpPr/>
          <p:nvPr/>
        </p:nvSpPr>
        <p:spPr>
          <a:xfrm>
            <a:off x="548640" y="4480560"/>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T+1500ms</a:t>
            </a:r>
            <a:endParaRPr lang="en-US" sz="1100" dirty="0"/>
          </a:p>
        </p:txBody>
      </p:sp>
      <p:sp>
        <p:nvSpPr>
          <p:cNvPr id="28" name="Text 26"/>
          <p:cNvSpPr/>
          <p:nvPr/>
        </p:nvSpPr>
        <p:spPr>
          <a:xfrm>
            <a:off x="1691640" y="4480560"/>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ClickHouse</a:t>
            </a:r>
            <a:endParaRPr lang="en-US" sz="1200" dirty="0"/>
          </a:p>
        </p:txBody>
      </p:sp>
      <p:sp>
        <p:nvSpPr>
          <p:cNvPr id="29" name="Text 27"/>
          <p:cNvSpPr/>
          <p:nvPr/>
        </p:nvSpPr>
        <p:spPr>
          <a:xfrm>
            <a:off x="3017520" y="4480560"/>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Kafka Engine consume + MV insert</a:t>
            </a:r>
            <a:endParaRPr lang="en-US" sz="1100" dirty="0"/>
          </a:p>
        </p:txBody>
      </p:sp>
      <p:sp>
        <p:nvSpPr>
          <p:cNvPr id="30" name="Shape 28"/>
          <p:cNvSpPr/>
          <p:nvPr/>
        </p:nvSpPr>
        <p:spPr>
          <a:xfrm>
            <a:off x="548640" y="4956048"/>
            <a:ext cx="1005840" cy="320040"/>
          </a:xfrm>
          <a:prstGeom prst="rect">
            <a:avLst/>
          </a:prstGeom>
          <a:solidFill>
            <a:srgbClr val="0D9488"/>
          </a:solidFill>
          <a:ln/>
        </p:spPr>
      </p:sp>
      <p:sp>
        <p:nvSpPr>
          <p:cNvPr id="31" name="Text 29"/>
          <p:cNvSpPr/>
          <p:nvPr/>
        </p:nvSpPr>
        <p:spPr>
          <a:xfrm>
            <a:off x="548640" y="4956048"/>
            <a:ext cx="1005840" cy="32004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T+1800ms</a:t>
            </a:r>
            <a:endParaRPr lang="en-US" sz="1100" dirty="0"/>
          </a:p>
        </p:txBody>
      </p:sp>
      <p:sp>
        <p:nvSpPr>
          <p:cNvPr id="32" name="Text 30"/>
          <p:cNvSpPr/>
          <p:nvPr/>
        </p:nvSpPr>
        <p:spPr>
          <a:xfrm>
            <a:off x="1691640" y="4956048"/>
            <a:ext cx="1280160" cy="320040"/>
          </a:xfrm>
          <a:prstGeom prst="rect">
            <a:avLst/>
          </a:prstGeom>
          <a:noFill/>
          <a:ln/>
        </p:spPr>
        <p:txBody>
          <a:bodyPr wrap="square" lIns="0" tIns="0" rIns="0" bIns="0" rtlCol="0" anchor="ctr"/>
          <a:lstStyle/>
          <a:p>
            <a:pPr indent="0" marL="0">
              <a:buNone/>
            </a:pPr>
            <a:r>
              <a:rPr lang="en-US" sz="1200" b="1" dirty="0">
                <a:solidFill>
                  <a:srgbClr val="1E40AF"/>
                </a:solidFill>
                <a:latin typeface="Calibri" pitchFamily="34" charset="0"/>
                <a:ea typeface="Calibri" pitchFamily="34" charset="-122"/>
                <a:cs typeface="Calibri" pitchFamily="34" charset="-120"/>
              </a:rPr>
              <a:t>Query</a:t>
            </a:r>
            <a:endParaRPr lang="en-US" sz="1200" dirty="0"/>
          </a:p>
        </p:txBody>
      </p:sp>
      <p:sp>
        <p:nvSpPr>
          <p:cNvPr id="33" name="Text 31"/>
          <p:cNvSpPr/>
          <p:nvPr/>
        </p:nvSpPr>
        <p:spPr>
          <a:xfrm>
            <a:off x="3017520" y="4956048"/>
            <a:ext cx="3017520" cy="320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SELECT thấy dòng mới</a:t>
            </a:r>
            <a:endParaRPr lang="en-US" sz="1100" dirty="0"/>
          </a:p>
        </p:txBody>
      </p:sp>
      <p:sp>
        <p:nvSpPr>
          <p:cNvPr id="34" name="Text 32"/>
          <p:cNvSpPr/>
          <p:nvPr/>
        </p:nvSpPr>
        <p:spPr>
          <a:xfrm>
            <a:off x="6400800" y="1645920"/>
            <a:ext cx="54864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3 điều then chốt</a:t>
            </a:r>
            <a:endParaRPr lang="en-US" sz="1600" dirty="0"/>
          </a:p>
        </p:txBody>
      </p:sp>
      <p:sp>
        <p:nvSpPr>
          <p:cNvPr id="35" name="Shape 33"/>
          <p:cNvSpPr/>
          <p:nvPr/>
        </p:nvSpPr>
        <p:spPr>
          <a:xfrm>
            <a:off x="6400800" y="2103120"/>
            <a:ext cx="5303520" cy="1280160"/>
          </a:xfrm>
          <a:prstGeom prst="rect">
            <a:avLst/>
          </a:prstGeom>
          <a:solidFill>
            <a:srgbClr val="FFFFFF"/>
          </a:solidFill>
          <a:ln w="12700">
            <a:solidFill>
              <a:srgbClr val="E2E8F0"/>
            </a:solidFill>
            <a:prstDash val="solid"/>
          </a:ln>
        </p:spPr>
      </p:sp>
      <p:sp>
        <p:nvSpPr>
          <p:cNvPr id="36" name="Shape 34"/>
          <p:cNvSpPr/>
          <p:nvPr/>
        </p:nvSpPr>
        <p:spPr>
          <a:xfrm>
            <a:off x="6400800" y="2103120"/>
            <a:ext cx="91440" cy="1280160"/>
          </a:xfrm>
          <a:prstGeom prst="rect">
            <a:avLst/>
          </a:prstGeom>
          <a:solidFill>
            <a:srgbClr val="0D9488"/>
          </a:solidFill>
          <a:ln/>
        </p:spPr>
      </p:sp>
      <p:sp>
        <p:nvSpPr>
          <p:cNvPr id="37" name="Text 35"/>
          <p:cNvSpPr/>
          <p:nvPr/>
        </p:nvSpPr>
        <p:spPr>
          <a:xfrm>
            <a:off x="6629400" y="224028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WAL = trái tim CDC</a:t>
            </a:r>
            <a:endParaRPr lang="en-US" sz="1400" dirty="0"/>
          </a:p>
        </p:txBody>
      </p:sp>
      <p:sp>
        <p:nvSpPr>
          <p:cNvPr id="38" name="Text 36"/>
          <p:cNvSpPr/>
          <p:nvPr/>
        </p:nvSpPr>
        <p:spPr>
          <a:xfrm>
            <a:off x="6629400" y="2606040"/>
            <a:ext cx="493776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Postgres tự ghi log thay đổi trước khi áp lên bảng. Debezium chỉ ĐỌC log này — không lock, không thêm query, không ảnh hưởng OLTP.</a:t>
            </a:r>
            <a:endParaRPr lang="en-US" sz="1100" dirty="0"/>
          </a:p>
        </p:txBody>
      </p:sp>
      <p:sp>
        <p:nvSpPr>
          <p:cNvPr id="39" name="Shape 37"/>
          <p:cNvSpPr/>
          <p:nvPr/>
        </p:nvSpPr>
        <p:spPr>
          <a:xfrm>
            <a:off x="6400800" y="3520440"/>
            <a:ext cx="5303520" cy="1280160"/>
          </a:xfrm>
          <a:prstGeom prst="rect">
            <a:avLst/>
          </a:prstGeom>
          <a:solidFill>
            <a:srgbClr val="FFFFFF"/>
          </a:solidFill>
          <a:ln w="12700">
            <a:solidFill>
              <a:srgbClr val="E2E8F0"/>
            </a:solidFill>
            <a:prstDash val="solid"/>
          </a:ln>
        </p:spPr>
      </p:sp>
      <p:sp>
        <p:nvSpPr>
          <p:cNvPr id="40" name="Shape 38"/>
          <p:cNvSpPr/>
          <p:nvPr/>
        </p:nvSpPr>
        <p:spPr>
          <a:xfrm>
            <a:off x="6400800" y="3520440"/>
            <a:ext cx="91440" cy="1280160"/>
          </a:xfrm>
          <a:prstGeom prst="rect">
            <a:avLst/>
          </a:prstGeom>
          <a:solidFill>
            <a:srgbClr val="0D9488"/>
          </a:solidFill>
          <a:ln/>
        </p:spPr>
      </p:sp>
      <p:sp>
        <p:nvSpPr>
          <p:cNvPr id="41" name="Text 39"/>
          <p:cNvSpPr/>
          <p:nvPr/>
        </p:nvSpPr>
        <p:spPr>
          <a:xfrm>
            <a:off x="6629400" y="365760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Replication slot giữ vị trí</a:t>
            </a:r>
            <a:endParaRPr lang="en-US" sz="1400" dirty="0"/>
          </a:p>
        </p:txBody>
      </p:sp>
      <p:sp>
        <p:nvSpPr>
          <p:cNvPr id="42" name="Text 40"/>
          <p:cNvSpPr/>
          <p:nvPr/>
        </p:nvSpPr>
        <p:spPr>
          <a:xfrm>
            <a:off x="6629400" y="4023360"/>
            <a:ext cx="493776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Khi Debezium dừng 1 ngày rồi start lại, slot giữ LSN. Không mất event. (Nhưng slot mồ côi → đầy đĩa Postgres)</a:t>
            </a:r>
            <a:endParaRPr lang="en-US" sz="1100" dirty="0"/>
          </a:p>
        </p:txBody>
      </p:sp>
      <p:sp>
        <p:nvSpPr>
          <p:cNvPr id="43" name="Shape 41"/>
          <p:cNvSpPr/>
          <p:nvPr/>
        </p:nvSpPr>
        <p:spPr>
          <a:xfrm>
            <a:off x="6400800" y="4937760"/>
            <a:ext cx="5303520" cy="1280160"/>
          </a:xfrm>
          <a:prstGeom prst="rect">
            <a:avLst/>
          </a:prstGeom>
          <a:solidFill>
            <a:srgbClr val="FFFFFF"/>
          </a:solidFill>
          <a:ln w="12700">
            <a:solidFill>
              <a:srgbClr val="E2E8F0"/>
            </a:solidFill>
            <a:prstDash val="solid"/>
          </a:ln>
        </p:spPr>
      </p:sp>
      <p:sp>
        <p:nvSpPr>
          <p:cNvPr id="44" name="Shape 42"/>
          <p:cNvSpPr/>
          <p:nvPr/>
        </p:nvSpPr>
        <p:spPr>
          <a:xfrm>
            <a:off x="6400800" y="4937760"/>
            <a:ext cx="91440" cy="1280160"/>
          </a:xfrm>
          <a:prstGeom prst="rect">
            <a:avLst/>
          </a:prstGeom>
          <a:solidFill>
            <a:srgbClr val="0D9488"/>
          </a:solidFill>
          <a:ln/>
        </p:spPr>
      </p:sp>
      <p:sp>
        <p:nvSpPr>
          <p:cNvPr id="45" name="Text 43"/>
          <p:cNvSpPr/>
          <p:nvPr/>
        </p:nvSpPr>
        <p:spPr>
          <a:xfrm>
            <a:off x="6629400" y="5074920"/>
            <a:ext cx="49377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Effectively exactly-once</a:t>
            </a:r>
            <a:endParaRPr lang="en-US" sz="1400" dirty="0"/>
          </a:p>
        </p:txBody>
      </p:sp>
      <p:sp>
        <p:nvSpPr>
          <p:cNvPr id="46" name="Text 44"/>
          <p:cNvSpPr/>
          <p:nvPr/>
        </p:nvSpPr>
        <p:spPr>
          <a:xfrm>
            <a:off x="6629400" y="5440680"/>
            <a:ext cx="493776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Kafka at-least-once + ReplacingMergeTree dedup theo (id, source_ts_ms). Duplicate vào ClickHouse → bản mới nhất 'thắng'.</a:t>
            </a:r>
            <a:endParaRPr lang="en-US" sz="1100" dirty="0"/>
          </a:p>
        </p:txBody>
      </p:sp>
      <p:sp>
        <p:nvSpPr>
          <p:cNvPr id="47" name="Shape 45"/>
          <p:cNvSpPr/>
          <p:nvPr/>
        </p:nvSpPr>
        <p:spPr>
          <a:xfrm>
            <a:off x="457200" y="6537960"/>
            <a:ext cx="11274552" cy="4572"/>
          </a:xfrm>
          <a:prstGeom prst="rect">
            <a:avLst/>
          </a:prstGeom>
          <a:solidFill>
            <a:srgbClr val="E2E8F0"/>
          </a:solidFill>
          <a:ln/>
        </p:spPr>
      </p:sp>
      <p:sp>
        <p:nvSpPr>
          <p:cNvPr id="48" name="Text 46"/>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49" name="Text 47"/>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02 · Kiến trúc</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Phát hiện gian lận — 4 lớp rule</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Mỗi rule giải quyết một pattern fraud cụ thể, viết bằng SQL thuần trên ClickHouse</a:t>
            </a:r>
            <a:endParaRPr lang="en-US" sz="1300" dirty="0"/>
          </a:p>
        </p:txBody>
      </p:sp>
      <p:sp>
        <p:nvSpPr>
          <p:cNvPr id="6" name="Shape 4"/>
          <p:cNvSpPr/>
          <p:nvPr/>
        </p:nvSpPr>
        <p:spPr>
          <a:xfrm>
            <a:off x="548640" y="1920240"/>
            <a:ext cx="5394960" cy="15087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7" name="Shape 5"/>
          <p:cNvSpPr/>
          <p:nvPr/>
        </p:nvSpPr>
        <p:spPr>
          <a:xfrm>
            <a:off x="548640" y="1920240"/>
            <a:ext cx="91440" cy="1508760"/>
          </a:xfrm>
          <a:prstGeom prst="rect">
            <a:avLst/>
          </a:prstGeom>
          <a:solidFill>
            <a:srgbClr val="E11D48"/>
          </a:solidFill>
          <a:ln/>
        </p:spPr>
      </p:sp>
      <p:sp>
        <p:nvSpPr>
          <p:cNvPr id="8" name="Text 6"/>
          <p:cNvSpPr/>
          <p:nvPr/>
        </p:nvSpPr>
        <p:spPr>
          <a:xfrm>
            <a:off x="822960" y="2057400"/>
            <a:ext cx="2743200" cy="274320"/>
          </a:xfrm>
          <a:prstGeom prst="rect">
            <a:avLst/>
          </a:prstGeom>
          <a:noFill/>
          <a:ln/>
        </p:spPr>
        <p:txBody>
          <a:bodyPr wrap="square" lIns="0" tIns="0" rIns="0" bIns="0" rtlCol="0" anchor="ctr"/>
          <a:lstStyle/>
          <a:p>
            <a:pPr indent="0" marL="0">
              <a:buNone/>
            </a:pPr>
            <a:r>
              <a:rPr lang="en-US" sz="1000" b="1" spc="400" kern="0" dirty="0">
                <a:solidFill>
                  <a:srgbClr val="E11D48"/>
                </a:solidFill>
                <a:latin typeface="Calibri" pitchFamily="34" charset="0"/>
                <a:ea typeface="Calibri" pitchFamily="34" charset="-122"/>
                <a:cs typeface="Calibri" pitchFamily="34" charset="-120"/>
              </a:rPr>
              <a:t>Rule 1</a:t>
            </a:r>
            <a:endParaRPr lang="en-US" sz="1000" dirty="0"/>
          </a:p>
        </p:txBody>
      </p:sp>
      <p:sp>
        <p:nvSpPr>
          <p:cNvPr id="9" name="Text 7"/>
          <p:cNvSpPr/>
          <p:nvPr/>
        </p:nvSpPr>
        <p:spPr>
          <a:xfrm>
            <a:off x="822960" y="233172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Velocity</a:t>
            </a:r>
            <a:endParaRPr lang="en-US" sz="2000" dirty="0"/>
          </a:p>
        </p:txBody>
      </p:sp>
      <p:sp>
        <p:nvSpPr>
          <p:cNvPr id="10" name="Text 8"/>
          <p:cNvSpPr/>
          <p:nvPr/>
        </p:nvSpPr>
        <p:spPr>
          <a:xfrm>
            <a:off x="822960" y="2788920"/>
            <a:ext cx="4937760" cy="594360"/>
          </a:xfrm>
          <a:prstGeom prst="rect">
            <a:avLst/>
          </a:prstGeom>
          <a:noFill/>
          <a:ln/>
        </p:spPr>
        <p:txBody>
          <a:bodyPr wrap="square" lIns="0" tIns="0" rIns="0" bIns="0" rtlCol="0" anchor="ctr"/>
          <a:lstStyle/>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Pattern:  </a:t>
            </a:r>
            <a:pPr indent="0" marL="0">
              <a:spcAft>
                <a:spcPts val="300"/>
              </a:spcAft>
              <a:buNone/>
            </a:pPr>
            <a:r>
              <a:rPr lang="en-US" sz="1100" b="1" dirty="0">
                <a:solidFill>
                  <a:srgbClr val="0F172A"/>
                </a:solidFill>
                <a:latin typeface="Calibri" pitchFamily="34" charset="0"/>
                <a:ea typeface="Calibri" pitchFamily="34" charset="-122"/>
                <a:cs typeface="Calibri" pitchFamily="34" charset="-120"/>
              </a:rPr>
              <a:t>&gt;10 TX trong 5 phút</a:t>
            </a:r>
            <a:endParaRPr lang="en-US" sz="11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Bắt loại:  </a:t>
            </a:r>
            <a:pPr indent="0" marL="0">
              <a:spcAft>
                <a:spcPts val="300"/>
              </a:spcAft>
              <a:buNone/>
            </a:pPr>
            <a:r>
              <a:rPr lang="en-US" sz="1100" i="1" dirty="0">
                <a:solidFill>
                  <a:srgbClr val="0F172A"/>
                </a:solidFill>
                <a:latin typeface="Calibri" pitchFamily="34" charset="0"/>
                <a:ea typeface="Calibri" pitchFamily="34" charset="-122"/>
                <a:cs typeface="Calibri" pitchFamily="34" charset="-120"/>
              </a:rPr>
              <a:t>Account takeover</a:t>
            </a:r>
            <a:endParaRPr lang="en-US" sz="1100" dirty="0"/>
          </a:p>
        </p:txBody>
      </p:sp>
      <p:sp>
        <p:nvSpPr>
          <p:cNvPr id="11" name="Shape 9"/>
          <p:cNvSpPr/>
          <p:nvPr/>
        </p:nvSpPr>
        <p:spPr>
          <a:xfrm>
            <a:off x="6217920" y="1920240"/>
            <a:ext cx="5394960" cy="15087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2" name="Shape 10"/>
          <p:cNvSpPr/>
          <p:nvPr/>
        </p:nvSpPr>
        <p:spPr>
          <a:xfrm>
            <a:off x="6217920" y="1920240"/>
            <a:ext cx="91440" cy="1508760"/>
          </a:xfrm>
          <a:prstGeom prst="rect">
            <a:avLst/>
          </a:prstGeom>
          <a:solidFill>
            <a:srgbClr val="F59E0B"/>
          </a:solidFill>
          <a:ln/>
        </p:spPr>
      </p:sp>
      <p:sp>
        <p:nvSpPr>
          <p:cNvPr id="13" name="Text 11"/>
          <p:cNvSpPr/>
          <p:nvPr/>
        </p:nvSpPr>
        <p:spPr>
          <a:xfrm>
            <a:off x="6492240" y="2057400"/>
            <a:ext cx="274320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Rule 2</a:t>
            </a:r>
            <a:endParaRPr lang="en-US" sz="1000" dirty="0"/>
          </a:p>
        </p:txBody>
      </p:sp>
      <p:sp>
        <p:nvSpPr>
          <p:cNvPr id="14" name="Text 12"/>
          <p:cNvSpPr/>
          <p:nvPr/>
        </p:nvSpPr>
        <p:spPr>
          <a:xfrm>
            <a:off x="6492240" y="233172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Large amount</a:t>
            </a:r>
            <a:endParaRPr lang="en-US" sz="2000" dirty="0"/>
          </a:p>
        </p:txBody>
      </p:sp>
      <p:sp>
        <p:nvSpPr>
          <p:cNvPr id="15" name="Text 13"/>
          <p:cNvSpPr/>
          <p:nvPr/>
        </p:nvSpPr>
        <p:spPr>
          <a:xfrm>
            <a:off x="6492240" y="2788920"/>
            <a:ext cx="4937760" cy="594360"/>
          </a:xfrm>
          <a:prstGeom prst="rect">
            <a:avLst/>
          </a:prstGeom>
          <a:noFill/>
          <a:ln/>
        </p:spPr>
        <p:txBody>
          <a:bodyPr wrap="square" lIns="0" tIns="0" rIns="0" bIns="0" rtlCol="0" anchor="ctr"/>
          <a:lstStyle/>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Pattern:  </a:t>
            </a:r>
            <a:pPr indent="0" marL="0">
              <a:spcAft>
                <a:spcPts val="300"/>
              </a:spcAft>
              <a:buNone/>
            </a:pPr>
            <a:r>
              <a:rPr lang="en-US" sz="1100" b="1" dirty="0">
                <a:solidFill>
                  <a:srgbClr val="0F172A"/>
                </a:solidFill>
                <a:latin typeface="Calibri" pitchFamily="34" charset="0"/>
                <a:ea typeface="Calibri" pitchFamily="34" charset="-122"/>
                <a:cs typeface="Calibri" pitchFamily="34" charset="-120"/>
              </a:rPr>
              <a:t>&gt;100M VND / giao dịch</a:t>
            </a:r>
            <a:endParaRPr lang="en-US" sz="11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Bắt loại:  </a:t>
            </a:r>
            <a:pPr indent="0" marL="0">
              <a:spcAft>
                <a:spcPts val="300"/>
              </a:spcAft>
              <a:buNone/>
            </a:pPr>
            <a:r>
              <a:rPr lang="en-US" sz="1100" i="1" dirty="0">
                <a:solidFill>
                  <a:srgbClr val="0F172A"/>
                </a:solidFill>
                <a:latin typeface="Calibri" pitchFamily="34" charset="0"/>
                <a:ea typeface="Calibri" pitchFamily="34" charset="-122"/>
                <a:cs typeface="Calibri" pitchFamily="34" charset="-120"/>
              </a:rPr>
              <a:t>Mass theft</a:t>
            </a:r>
            <a:endParaRPr lang="en-US" sz="1100" dirty="0"/>
          </a:p>
        </p:txBody>
      </p:sp>
      <p:sp>
        <p:nvSpPr>
          <p:cNvPr id="16" name="Shape 14"/>
          <p:cNvSpPr/>
          <p:nvPr/>
        </p:nvSpPr>
        <p:spPr>
          <a:xfrm>
            <a:off x="548640" y="3611880"/>
            <a:ext cx="5394960" cy="15087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7" name="Shape 15"/>
          <p:cNvSpPr/>
          <p:nvPr/>
        </p:nvSpPr>
        <p:spPr>
          <a:xfrm>
            <a:off x="548640" y="3611880"/>
            <a:ext cx="91440" cy="1508760"/>
          </a:xfrm>
          <a:prstGeom prst="rect">
            <a:avLst/>
          </a:prstGeom>
          <a:solidFill>
            <a:srgbClr val="1E40AF"/>
          </a:solidFill>
          <a:ln/>
        </p:spPr>
      </p:sp>
      <p:sp>
        <p:nvSpPr>
          <p:cNvPr id="18" name="Text 16"/>
          <p:cNvSpPr/>
          <p:nvPr/>
        </p:nvSpPr>
        <p:spPr>
          <a:xfrm>
            <a:off x="822960" y="3749040"/>
            <a:ext cx="2743200" cy="274320"/>
          </a:xfrm>
          <a:prstGeom prst="rect">
            <a:avLst/>
          </a:prstGeom>
          <a:noFill/>
          <a:ln/>
        </p:spPr>
        <p:txBody>
          <a:bodyPr wrap="square" lIns="0" tIns="0" rIns="0" bIns="0" rtlCol="0" anchor="ctr"/>
          <a:lstStyle/>
          <a:p>
            <a:pPr indent="0" marL="0">
              <a:buNone/>
            </a:pPr>
            <a:r>
              <a:rPr lang="en-US" sz="1000" b="1" spc="400" kern="0" dirty="0">
                <a:solidFill>
                  <a:srgbClr val="1E40AF"/>
                </a:solidFill>
                <a:latin typeface="Calibri" pitchFamily="34" charset="0"/>
                <a:ea typeface="Calibri" pitchFamily="34" charset="-122"/>
                <a:cs typeface="Calibri" pitchFamily="34" charset="-120"/>
              </a:rPr>
              <a:t>Rule 3</a:t>
            </a:r>
            <a:endParaRPr lang="en-US" sz="1000" dirty="0"/>
          </a:p>
        </p:txBody>
      </p:sp>
      <p:sp>
        <p:nvSpPr>
          <p:cNvPr id="19" name="Text 17"/>
          <p:cNvSpPr/>
          <p:nvPr/>
        </p:nvSpPr>
        <p:spPr>
          <a:xfrm>
            <a:off x="822960" y="402336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Z-score</a:t>
            </a:r>
            <a:endParaRPr lang="en-US" sz="2000" dirty="0"/>
          </a:p>
        </p:txBody>
      </p:sp>
      <p:sp>
        <p:nvSpPr>
          <p:cNvPr id="20" name="Text 18"/>
          <p:cNvSpPr/>
          <p:nvPr/>
        </p:nvSpPr>
        <p:spPr>
          <a:xfrm>
            <a:off x="822960" y="4480560"/>
            <a:ext cx="4937760" cy="594360"/>
          </a:xfrm>
          <a:prstGeom prst="rect">
            <a:avLst/>
          </a:prstGeom>
          <a:noFill/>
          <a:ln/>
        </p:spPr>
        <p:txBody>
          <a:bodyPr wrap="square" lIns="0" tIns="0" rIns="0" bIns="0" rtlCol="0" anchor="ctr"/>
          <a:lstStyle/>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Pattern:  </a:t>
            </a:r>
            <a:pPr indent="0" marL="0">
              <a:spcAft>
                <a:spcPts val="300"/>
              </a:spcAft>
              <a:buNone/>
            </a:pPr>
            <a:r>
              <a:rPr lang="en-US" sz="1100" b="1" dirty="0">
                <a:solidFill>
                  <a:srgbClr val="0F172A"/>
                </a:solidFill>
                <a:latin typeface="Calibri" pitchFamily="34" charset="0"/>
                <a:ea typeface="Calibri" pitchFamily="34" charset="-122"/>
                <a:cs typeface="Calibri" pitchFamily="34" charset="-120"/>
              </a:rPr>
              <a:t>|z| &gt; 3 so với baseline 30 ngày</a:t>
            </a:r>
            <a:endParaRPr lang="en-US" sz="11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Bắt loại:  </a:t>
            </a:r>
            <a:pPr indent="0" marL="0">
              <a:spcAft>
                <a:spcPts val="300"/>
              </a:spcAft>
              <a:buNone/>
            </a:pPr>
            <a:r>
              <a:rPr lang="en-US" sz="1100" i="1" dirty="0">
                <a:solidFill>
                  <a:srgbClr val="0F172A"/>
                </a:solidFill>
                <a:latin typeface="Calibri" pitchFamily="34" charset="0"/>
                <a:ea typeface="Calibri" pitchFamily="34" charset="-122"/>
                <a:cs typeface="Calibri" pitchFamily="34" charset="-120"/>
              </a:rPr>
              <a:t>Cá nhân hóa</a:t>
            </a:r>
            <a:endParaRPr lang="en-US" sz="1100" dirty="0"/>
          </a:p>
        </p:txBody>
      </p:sp>
      <p:sp>
        <p:nvSpPr>
          <p:cNvPr id="21" name="Shape 19"/>
          <p:cNvSpPr/>
          <p:nvPr/>
        </p:nvSpPr>
        <p:spPr>
          <a:xfrm>
            <a:off x="6217920" y="3611880"/>
            <a:ext cx="5394960" cy="15087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22" name="Shape 20"/>
          <p:cNvSpPr/>
          <p:nvPr/>
        </p:nvSpPr>
        <p:spPr>
          <a:xfrm>
            <a:off x="6217920" y="3611880"/>
            <a:ext cx="91440" cy="1508760"/>
          </a:xfrm>
          <a:prstGeom prst="rect">
            <a:avLst/>
          </a:prstGeom>
          <a:solidFill>
            <a:srgbClr val="0D9488"/>
          </a:solidFill>
          <a:ln/>
        </p:spPr>
      </p:sp>
      <p:sp>
        <p:nvSpPr>
          <p:cNvPr id="23" name="Text 21"/>
          <p:cNvSpPr/>
          <p:nvPr/>
        </p:nvSpPr>
        <p:spPr>
          <a:xfrm>
            <a:off x="6492240" y="3749040"/>
            <a:ext cx="27432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Rule 4</a:t>
            </a:r>
            <a:endParaRPr lang="en-US" sz="1000" dirty="0"/>
          </a:p>
        </p:txBody>
      </p:sp>
      <p:sp>
        <p:nvSpPr>
          <p:cNvPr id="24" name="Text 22"/>
          <p:cNvSpPr/>
          <p:nvPr/>
        </p:nvSpPr>
        <p:spPr>
          <a:xfrm>
            <a:off x="6492240" y="4023360"/>
            <a:ext cx="4937760" cy="411480"/>
          </a:xfrm>
          <a:prstGeom prst="rect">
            <a:avLst/>
          </a:prstGeom>
          <a:noFill/>
          <a:ln/>
        </p:spPr>
        <p:txBody>
          <a:bodyPr wrap="square" lIns="0" tIns="0" rIns="0" bIns="0"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Multi-currency</a:t>
            </a:r>
            <a:endParaRPr lang="en-US" sz="2000" dirty="0"/>
          </a:p>
        </p:txBody>
      </p:sp>
      <p:sp>
        <p:nvSpPr>
          <p:cNvPr id="25" name="Text 23"/>
          <p:cNvSpPr/>
          <p:nvPr/>
        </p:nvSpPr>
        <p:spPr>
          <a:xfrm>
            <a:off x="6492240" y="4480560"/>
            <a:ext cx="4937760" cy="594360"/>
          </a:xfrm>
          <a:prstGeom prst="rect">
            <a:avLst/>
          </a:prstGeom>
          <a:noFill/>
          <a:ln/>
        </p:spPr>
        <p:txBody>
          <a:bodyPr wrap="square" lIns="0" tIns="0" rIns="0" bIns="0" rtlCol="0" anchor="ctr"/>
          <a:lstStyle/>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Pattern:  </a:t>
            </a:r>
            <a:pPr indent="0" marL="0">
              <a:spcAft>
                <a:spcPts val="300"/>
              </a:spcAft>
              <a:buNone/>
            </a:pPr>
            <a:r>
              <a:rPr lang="en-US" sz="1100" b="1" dirty="0">
                <a:solidFill>
                  <a:srgbClr val="0F172A"/>
                </a:solidFill>
                <a:latin typeface="Calibri" pitchFamily="34" charset="0"/>
                <a:ea typeface="Calibri" pitchFamily="34" charset="-122"/>
                <a:cs typeface="Calibri" pitchFamily="34" charset="-120"/>
              </a:rPr>
              <a:t>≥3 currency trong 10 phút</a:t>
            </a:r>
            <a:endParaRPr lang="en-US" sz="1100" dirty="0"/>
          </a:p>
          <a:p>
            <a:pPr indent="0" marL="0">
              <a:spcAft>
                <a:spcPts val="300"/>
              </a:spcAft>
              <a:buNone/>
            </a:pPr>
            <a:r>
              <a:rPr lang="en-US" sz="1100" dirty="0">
                <a:solidFill>
                  <a:srgbClr val="64748B"/>
                </a:solidFill>
                <a:latin typeface="Calibri" pitchFamily="34" charset="0"/>
                <a:ea typeface="Calibri" pitchFamily="34" charset="-122"/>
                <a:cs typeface="Calibri" pitchFamily="34" charset="-120"/>
              </a:rPr>
              <a:t>Bắt loại:  </a:t>
            </a:r>
            <a:pPr indent="0" marL="0">
              <a:spcAft>
                <a:spcPts val="300"/>
              </a:spcAft>
              <a:buNone/>
            </a:pPr>
            <a:r>
              <a:rPr lang="en-US" sz="1100" i="1" dirty="0">
                <a:solidFill>
                  <a:srgbClr val="0F172A"/>
                </a:solidFill>
                <a:latin typeface="Calibri" pitchFamily="34" charset="0"/>
                <a:ea typeface="Calibri" pitchFamily="34" charset="-122"/>
                <a:cs typeface="Calibri" pitchFamily="34" charset="-120"/>
              </a:rPr>
              <a:t>Money laundering</a:t>
            </a:r>
            <a:endParaRPr lang="en-US" sz="1100" dirty="0"/>
          </a:p>
        </p:txBody>
      </p:sp>
      <p:sp>
        <p:nvSpPr>
          <p:cNvPr id="26" name="Shape 24"/>
          <p:cNvSpPr/>
          <p:nvPr/>
        </p:nvSpPr>
        <p:spPr>
          <a:xfrm>
            <a:off x="548640" y="5440680"/>
            <a:ext cx="11091672" cy="822960"/>
          </a:xfrm>
          <a:prstGeom prst="rect">
            <a:avLst/>
          </a:prstGeom>
          <a:solidFill>
            <a:srgbClr val="DBEAFE"/>
          </a:solidFill>
          <a:ln/>
        </p:spPr>
      </p:sp>
      <p:sp>
        <p:nvSpPr>
          <p:cNvPr id="27" name="Shape 25"/>
          <p:cNvSpPr/>
          <p:nvPr/>
        </p:nvSpPr>
        <p:spPr>
          <a:xfrm>
            <a:off x="548640" y="5440680"/>
            <a:ext cx="91440" cy="822960"/>
          </a:xfrm>
          <a:prstGeom prst="rect">
            <a:avLst/>
          </a:prstGeom>
          <a:solidFill>
            <a:srgbClr val="1E40AF"/>
          </a:solidFill>
          <a:ln/>
        </p:spPr>
      </p:sp>
      <p:sp>
        <p:nvSpPr>
          <p:cNvPr id="28" name="Text 26"/>
          <p:cNvSpPr/>
          <p:nvPr/>
        </p:nvSpPr>
        <p:spPr>
          <a:xfrm>
            <a:off x="822960" y="5532120"/>
            <a:ext cx="10698480" cy="274320"/>
          </a:xfrm>
          <a:prstGeom prst="rect">
            <a:avLst/>
          </a:prstGeom>
          <a:noFill/>
          <a:ln/>
        </p:spPr>
        <p:txBody>
          <a:bodyPr wrap="square" lIns="0" tIns="0" rIns="0" bIns="0" rtlCol="0" anchor="ctr"/>
          <a:lstStyle/>
          <a:p>
            <a:pPr indent="0" marL="0">
              <a:buNone/>
            </a:pPr>
            <a:r>
              <a:rPr lang="en-US" sz="1200" b="1" spc="400" kern="0" dirty="0">
                <a:solidFill>
                  <a:srgbClr val="1E3A8A"/>
                </a:solidFill>
                <a:latin typeface="Calibri" pitchFamily="34" charset="0"/>
                <a:ea typeface="Calibri" pitchFamily="34" charset="-122"/>
                <a:cs typeface="Calibri" pitchFamily="34" charset="-120"/>
              </a:rPr>
              <a:t>Đánh giá có dataset có label</a:t>
            </a:r>
            <a:endParaRPr lang="en-US" sz="1200" dirty="0"/>
          </a:p>
        </p:txBody>
      </p:sp>
      <p:sp>
        <p:nvSpPr>
          <p:cNvPr id="29" name="Text 27"/>
          <p:cNvSpPr/>
          <p:nvPr/>
        </p:nvSpPr>
        <p:spPr>
          <a:xfrm>
            <a:off x="822960" y="5852160"/>
            <a:ext cx="10698480"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simulate_fraud.py inject 50 case fraud có metadata (fraud_type) trên dataset 5000 TX normal → tính precision, recall, F1.</a:t>
            </a:r>
            <a:endParaRPr lang="en-US" sz="1200" dirty="0"/>
          </a:p>
        </p:txBody>
      </p:sp>
      <p:sp>
        <p:nvSpPr>
          <p:cNvPr id="30" name="Shape 28"/>
          <p:cNvSpPr/>
          <p:nvPr/>
        </p:nvSpPr>
        <p:spPr>
          <a:xfrm>
            <a:off x="457200" y="6537960"/>
            <a:ext cx="11274552" cy="4572"/>
          </a:xfrm>
          <a:prstGeom prst="rect">
            <a:avLst/>
          </a:prstGeom>
          <a:solidFill>
            <a:srgbClr val="E2E8F0"/>
          </a:solidFill>
          <a:ln/>
        </p:spPr>
      </p:sp>
      <p:sp>
        <p:nvSpPr>
          <p:cNvPr id="31" name="Text 29"/>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32" name="Text 30"/>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D9488"/>
          </a:solidFill>
          <a:ln/>
        </p:spPr>
      </p:sp>
      <p:sp>
        <p:nvSpPr>
          <p:cNvPr id="3" name="Text 1"/>
          <p:cNvSpPr/>
          <p:nvPr/>
        </p:nvSpPr>
        <p:spPr>
          <a:xfrm>
            <a:off x="548640" y="1371600"/>
            <a:ext cx="3657600" cy="1645920"/>
          </a:xfrm>
          <a:prstGeom prst="rect">
            <a:avLst/>
          </a:prstGeom>
          <a:noFill/>
          <a:ln/>
        </p:spPr>
        <p:txBody>
          <a:bodyPr wrap="square" lIns="0" tIns="0" rIns="0" bIns="0" rtlCol="0" anchor="ctr"/>
          <a:lstStyle/>
          <a:p>
            <a:pPr indent="0" marL="0">
              <a:buNone/>
            </a:pPr>
            <a:r>
              <a:rPr lang="en-US" sz="14000" b="1" dirty="0">
                <a:solidFill>
                  <a:srgbClr val="0D9488"/>
                </a:solidFill>
                <a:latin typeface="Calibri" pitchFamily="34" charset="0"/>
                <a:ea typeface="Calibri" pitchFamily="34" charset="-122"/>
                <a:cs typeface="Calibri" pitchFamily="34" charset="-120"/>
              </a:rPr>
              <a:t>03</a:t>
            </a:r>
            <a:endParaRPr lang="en-US" sz="14000" dirty="0"/>
          </a:p>
        </p:txBody>
      </p:sp>
      <p:sp>
        <p:nvSpPr>
          <p:cNvPr id="4" name="Text 2"/>
          <p:cNvSpPr/>
          <p:nvPr/>
        </p:nvSpPr>
        <p:spPr>
          <a:xfrm>
            <a:off x="548640" y="3200400"/>
            <a:ext cx="7315200" cy="731520"/>
          </a:xfrm>
          <a:prstGeom prst="rect">
            <a:avLst/>
          </a:prstGeom>
          <a:noFill/>
          <a:ln/>
        </p:spPr>
        <p:txBody>
          <a:bodyPr wrap="square" lIns="0" tIns="0" rIns="0" bIns="0" rtlCol="0" anchor="ctr"/>
          <a:lstStyle/>
          <a:p>
            <a:pPr indent="0" marL="0">
              <a:buNone/>
            </a:pPr>
            <a:r>
              <a:rPr lang="en-US" sz="5600" b="1" spc="400" kern="0" dirty="0">
                <a:solidFill>
                  <a:srgbClr val="F8FAFC"/>
                </a:solidFill>
                <a:latin typeface="Calibri" pitchFamily="34" charset="0"/>
                <a:ea typeface="Calibri" pitchFamily="34" charset="-122"/>
                <a:cs typeface="Calibri" pitchFamily="34" charset="-120"/>
              </a:rPr>
              <a:t>DEMO LIVE</a:t>
            </a:r>
            <a:endParaRPr lang="en-US" sz="5600" dirty="0"/>
          </a:p>
        </p:txBody>
      </p:sp>
      <p:sp>
        <p:nvSpPr>
          <p:cNvPr id="5" name="Text 3"/>
          <p:cNvSpPr/>
          <p:nvPr/>
        </p:nvSpPr>
        <p:spPr>
          <a:xfrm>
            <a:off x="548640" y="4023360"/>
            <a:ext cx="10058400" cy="457200"/>
          </a:xfrm>
          <a:prstGeom prst="rect">
            <a:avLst/>
          </a:prstGeom>
          <a:noFill/>
          <a:ln/>
        </p:spPr>
        <p:txBody>
          <a:bodyPr wrap="square" lIns="0" tIns="0" rIns="0" bIns="0"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Show không nói. Để hệ thống tự chứng minh.</a:t>
            </a:r>
            <a:endParaRPr lang="en-US" sz="1800" dirty="0"/>
          </a:p>
        </p:txBody>
      </p:sp>
      <p:sp>
        <p:nvSpPr>
          <p:cNvPr id="6" name="Text 4"/>
          <p:cNvSpPr/>
          <p:nvPr/>
        </p:nvSpPr>
        <p:spPr>
          <a:xfrm>
            <a:off x="6858000" y="1554480"/>
            <a:ext cx="45720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5 cảnh — 5 phút</a:t>
            </a:r>
            <a:endParaRPr lang="en-US" sz="1300" dirty="0"/>
          </a:p>
        </p:txBody>
      </p:sp>
      <p:sp>
        <p:nvSpPr>
          <p:cNvPr id="7" name="Shape 5"/>
          <p:cNvSpPr/>
          <p:nvPr/>
        </p:nvSpPr>
        <p:spPr>
          <a:xfrm>
            <a:off x="6858000" y="1965960"/>
            <a:ext cx="274320" cy="274320"/>
          </a:xfrm>
          <a:prstGeom prst="ellipse">
            <a:avLst/>
          </a:prstGeom>
          <a:solidFill>
            <a:srgbClr val="0D9488"/>
          </a:solidFill>
          <a:ln/>
        </p:spPr>
      </p:sp>
      <p:sp>
        <p:nvSpPr>
          <p:cNvPr id="8" name="Text 6"/>
          <p:cNvSpPr/>
          <p:nvPr/>
        </p:nvSpPr>
        <p:spPr>
          <a:xfrm>
            <a:off x="6858000" y="1965960"/>
            <a:ext cx="274320" cy="27432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7269480" y="1965960"/>
            <a:ext cx="4846320" cy="27432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Trạng thái pipeline (60s)</a:t>
            </a:r>
            <a:endParaRPr lang="en-US" sz="1400" dirty="0"/>
          </a:p>
        </p:txBody>
      </p:sp>
      <p:sp>
        <p:nvSpPr>
          <p:cNvPr id="10" name="Shape 8"/>
          <p:cNvSpPr/>
          <p:nvPr/>
        </p:nvSpPr>
        <p:spPr>
          <a:xfrm>
            <a:off x="6858000" y="2377440"/>
            <a:ext cx="274320" cy="274320"/>
          </a:xfrm>
          <a:prstGeom prst="ellipse">
            <a:avLst/>
          </a:prstGeom>
          <a:solidFill>
            <a:srgbClr val="0D9488"/>
          </a:solidFill>
          <a:ln/>
        </p:spPr>
      </p:sp>
      <p:sp>
        <p:nvSpPr>
          <p:cNvPr id="11" name="Text 9"/>
          <p:cNvSpPr/>
          <p:nvPr/>
        </p:nvSpPr>
        <p:spPr>
          <a:xfrm>
            <a:off x="6858000" y="2377440"/>
            <a:ext cx="274320" cy="27432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7269480" y="2377440"/>
            <a:ext cx="4846320" cy="27432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Sinh giao dịch + verify CDC (60s)</a:t>
            </a:r>
            <a:endParaRPr lang="en-US" sz="1400" dirty="0"/>
          </a:p>
        </p:txBody>
      </p:sp>
      <p:sp>
        <p:nvSpPr>
          <p:cNvPr id="13" name="Shape 11"/>
          <p:cNvSpPr/>
          <p:nvPr/>
        </p:nvSpPr>
        <p:spPr>
          <a:xfrm>
            <a:off x="6858000" y="2788920"/>
            <a:ext cx="274320" cy="274320"/>
          </a:xfrm>
          <a:prstGeom prst="ellipse">
            <a:avLst/>
          </a:prstGeom>
          <a:solidFill>
            <a:srgbClr val="0D9488"/>
          </a:solidFill>
          <a:ln/>
        </p:spPr>
      </p:sp>
      <p:sp>
        <p:nvSpPr>
          <p:cNvPr id="14" name="Text 12"/>
          <p:cNvSpPr/>
          <p:nvPr/>
        </p:nvSpPr>
        <p:spPr>
          <a:xfrm>
            <a:off x="6858000" y="2788920"/>
            <a:ext cx="274320" cy="27432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7269480" y="2788920"/>
            <a:ext cx="4846320" cy="27432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Dashboard real-time (90s)</a:t>
            </a:r>
            <a:endParaRPr lang="en-US" sz="1400" dirty="0"/>
          </a:p>
        </p:txBody>
      </p:sp>
      <p:sp>
        <p:nvSpPr>
          <p:cNvPr id="16" name="Shape 14"/>
          <p:cNvSpPr/>
          <p:nvPr/>
        </p:nvSpPr>
        <p:spPr>
          <a:xfrm>
            <a:off x="6858000" y="3200400"/>
            <a:ext cx="274320" cy="274320"/>
          </a:xfrm>
          <a:prstGeom prst="ellipse">
            <a:avLst/>
          </a:prstGeom>
          <a:solidFill>
            <a:srgbClr val="0D9488"/>
          </a:solidFill>
          <a:ln/>
        </p:spPr>
      </p:sp>
      <p:sp>
        <p:nvSpPr>
          <p:cNvPr id="17" name="Text 15"/>
          <p:cNvSpPr/>
          <p:nvPr/>
        </p:nvSpPr>
        <p:spPr>
          <a:xfrm>
            <a:off x="6858000" y="3200400"/>
            <a:ext cx="274320" cy="27432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7269480" y="3200400"/>
            <a:ext cx="4846320" cy="27432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Inject fraud + detect (60s)</a:t>
            </a:r>
            <a:endParaRPr lang="en-US" sz="1400" dirty="0"/>
          </a:p>
        </p:txBody>
      </p:sp>
      <p:sp>
        <p:nvSpPr>
          <p:cNvPr id="19" name="Shape 17"/>
          <p:cNvSpPr/>
          <p:nvPr/>
        </p:nvSpPr>
        <p:spPr>
          <a:xfrm>
            <a:off x="6858000" y="3611880"/>
            <a:ext cx="274320" cy="274320"/>
          </a:xfrm>
          <a:prstGeom prst="ellipse">
            <a:avLst/>
          </a:prstGeom>
          <a:solidFill>
            <a:srgbClr val="0D9488"/>
          </a:solidFill>
          <a:ln/>
        </p:spPr>
      </p:sp>
      <p:sp>
        <p:nvSpPr>
          <p:cNvPr id="20" name="Text 18"/>
          <p:cNvSpPr/>
          <p:nvPr/>
        </p:nvSpPr>
        <p:spPr>
          <a:xfrm>
            <a:off x="6858000" y="3611880"/>
            <a:ext cx="274320" cy="274320"/>
          </a:xfrm>
          <a:prstGeom prst="rect">
            <a:avLst/>
          </a:prstGeom>
          <a:noFill/>
          <a:ln/>
        </p:spPr>
        <p:txBody>
          <a:bodyPr wrap="square" lIns="0" tIns="0" rIns="0" bIns="0"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5</a:t>
            </a:r>
            <a:endParaRPr lang="en-US" sz="1100" dirty="0"/>
          </a:p>
        </p:txBody>
      </p:sp>
      <p:sp>
        <p:nvSpPr>
          <p:cNvPr id="21" name="Text 19"/>
          <p:cNvSpPr/>
          <p:nvPr/>
        </p:nvSpPr>
        <p:spPr>
          <a:xfrm>
            <a:off x="7269480" y="3611880"/>
            <a:ext cx="4846320" cy="274320"/>
          </a:xfrm>
          <a:prstGeom prst="rect">
            <a:avLst/>
          </a:prstGeom>
          <a:noFill/>
          <a:ln/>
        </p:spPr>
        <p:txBody>
          <a:bodyPr wrap="square" lIns="0" tIns="0" rIns="0" bIns="0" rtlCol="0" anchor="ctr"/>
          <a:lstStyle/>
          <a:p>
            <a:pPr indent="0" marL="0">
              <a:buNone/>
            </a:pPr>
            <a:r>
              <a:rPr lang="en-US" sz="1400" dirty="0">
                <a:solidFill>
                  <a:srgbClr val="F8FAFC"/>
                </a:solidFill>
                <a:latin typeface="Calibri" pitchFamily="34" charset="0"/>
                <a:ea typeface="Calibri" pitchFamily="34" charset="-122"/>
                <a:cs typeface="Calibri" pitchFamily="34" charset="-120"/>
              </a:rPr>
              <a:t>Alert email (30s)</a:t>
            </a:r>
            <a:endParaRPr lang="en-US" sz="1400" dirty="0"/>
          </a:p>
        </p:txBody>
      </p:sp>
      <p:sp>
        <p:nvSpPr>
          <p:cNvPr id="22" name="Text 20"/>
          <p:cNvSpPr/>
          <p:nvPr/>
        </p:nvSpPr>
        <p:spPr>
          <a:xfrm>
            <a:off x="548640" y="5943600"/>
            <a:ext cx="10972800" cy="365760"/>
          </a:xfrm>
          <a:prstGeom prst="rect">
            <a:avLst/>
          </a:prstGeom>
          <a:noFill/>
          <a:ln/>
        </p:spPr>
        <p:txBody>
          <a:bodyPr wrap="square" lIns="0" tIns="0" rIns="0" bIns="0" rtlCol="0" anchor="ctr"/>
          <a:lstStyle/>
          <a:p>
            <a:pPr indent="0" marL="0">
              <a:buNone/>
            </a:pPr>
            <a:r>
              <a:rPr lang="en-US" sz="1600" i="1" dirty="0">
                <a:solidFill>
                  <a:srgbClr val="0D9488"/>
                </a:solidFill>
                <a:latin typeface="Calibri" pitchFamily="34" charset="0"/>
                <a:ea typeface="Calibri" pitchFamily="34" charset="-122"/>
                <a:cs typeface="Calibri" pitchFamily="34" charset="-120"/>
              </a:rPr>
              <a:t>→ Chuyển sang terminal để demo</a:t>
            </a:r>
            <a:endParaRPr lang="en-US" sz="1600" dirty="0"/>
          </a:p>
        </p:txBody>
      </p:sp>
      <p:sp>
        <p:nvSpPr>
          <p:cNvPr id="23" name="Shape 21"/>
          <p:cNvSpPr/>
          <p:nvPr/>
        </p:nvSpPr>
        <p:spPr>
          <a:xfrm>
            <a:off x="457200" y="6537960"/>
            <a:ext cx="11274552" cy="4572"/>
          </a:xfrm>
          <a:prstGeom prst="rect">
            <a:avLst/>
          </a:prstGeom>
          <a:solidFill>
            <a:srgbClr val="E2E8F0"/>
          </a:solidFill>
          <a:ln/>
        </p:spPr>
      </p:sp>
      <p:sp>
        <p:nvSpPr>
          <p:cNvPr id="24" name="Text 22"/>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5" name="Text 23"/>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03 · Demo backup</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Screenshot dashboard FinWatch</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Nếu demo live không khả dụng, screenshot này thay thế</a:t>
            </a:r>
            <a:endParaRPr lang="en-US" sz="1300" dirty="0"/>
          </a:p>
        </p:txBody>
      </p:sp>
      <p:sp>
        <p:nvSpPr>
          <p:cNvPr id="6" name="Shape 4"/>
          <p:cNvSpPr/>
          <p:nvPr/>
        </p:nvSpPr>
        <p:spPr>
          <a:xfrm>
            <a:off x="548640" y="1920240"/>
            <a:ext cx="11091672" cy="4297680"/>
          </a:xfrm>
          <a:prstGeom prst="rect">
            <a:avLst/>
          </a:prstGeom>
          <a:solidFill>
            <a:srgbClr val="0F172A"/>
          </a:solidFill>
          <a:ln/>
        </p:spPr>
      </p:sp>
      <p:sp>
        <p:nvSpPr>
          <p:cNvPr id="7" name="Shape 5"/>
          <p:cNvSpPr/>
          <p:nvPr/>
        </p:nvSpPr>
        <p:spPr>
          <a:xfrm>
            <a:off x="548640" y="1920240"/>
            <a:ext cx="11091672" cy="411480"/>
          </a:xfrm>
          <a:prstGeom prst="rect">
            <a:avLst/>
          </a:prstGeom>
          <a:solidFill>
            <a:srgbClr val="1E293B"/>
          </a:solidFill>
          <a:ln/>
        </p:spPr>
      </p:sp>
      <p:sp>
        <p:nvSpPr>
          <p:cNvPr id="8" name="Text 6"/>
          <p:cNvSpPr/>
          <p:nvPr/>
        </p:nvSpPr>
        <p:spPr>
          <a:xfrm>
            <a:off x="822960" y="1984248"/>
            <a:ext cx="7315200" cy="27432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FinWatch — Real-time Transaction Monitoring</a:t>
            </a:r>
            <a:endParaRPr lang="en-US" sz="1200" dirty="0"/>
          </a:p>
        </p:txBody>
      </p:sp>
      <p:sp>
        <p:nvSpPr>
          <p:cNvPr id="9" name="Text 7"/>
          <p:cNvSpPr/>
          <p:nvPr/>
        </p:nvSpPr>
        <p:spPr>
          <a:xfrm>
            <a:off x="8686800" y="1984248"/>
            <a:ext cx="2743200" cy="274320"/>
          </a:xfrm>
          <a:prstGeom prst="rect">
            <a:avLst/>
          </a:prstGeom>
          <a:noFill/>
          <a:ln/>
        </p:spPr>
        <p:txBody>
          <a:bodyPr wrap="square" lIns="0" tIns="0" rIns="0" bIns="0"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Last 1 hour · refresh 5s</a:t>
            </a:r>
            <a:endParaRPr lang="en-US" sz="1000" dirty="0"/>
          </a:p>
        </p:txBody>
      </p:sp>
      <p:sp>
        <p:nvSpPr>
          <p:cNvPr id="10" name="Shape 8"/>
          <p:cNvSpPr/>
          <p:nvPr/>
        </p:nvSpPr>
        <p:spPr>
          <a:xfrm>
            <a:off x="777240" y="2514600"/>
            <a:ext cx="2468880" cy="1005840"/>
          </a:xfrm>
          <a:prstGeom prst="rect">
            <a:avLst/>
          </a:prstGeom>
          <a:solidFill>
            <a:srgbClr val="1E293B"/>
          </a:solidFill>
          <a:ln/>
        </p:spPr>
      </p:sp>
      <p:sp>
        <p:nvSpPr>
          <p:cNvPr id="11" name="Text 9"/>
          <p:cNvSpPr/>
          <p:nvPr/>
        </p:nvSpPr>
        <p:spPr>
          <a:xfrm>
            <a:off x="777240" y="2606040"/>
            <a:ext cx="2468880" cy="502920"/>
          </a:xfrm>
          <a:prstGeom prst="rect">
            <a:avLst/>
          </a:prstGeom>
          <a:noFill/>
          <a:ln/>
        </p:spPr>
        <p:txBody>
          <a:bodyPr wrap="square" lIns="0" tIns="0" rIns="0" bIns="0"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947</a:t>
            </a:r>
            <a:endParaRPr lang="en-US" sz="3000" dirty="0"/>
          </a:p>
        </p:txBody>
      </p:sp>
      <p:sp>
        <p:nvSpPr>
          <p:cNvPr id="12" name="Text 10"/>
          <p:cNvSpPr/>
          <p:nvPr/>
        </p:nvSpPr>
        <p:spPr>
          <a:xfrm>
            <a:off x="777240" y="3108960"/>
            <a:ext cx="2468880" cy="320040"/>
          </a:xfrm>
          <a:prstGeom prst="rect">
            <a:avLst/>
          </a:prstGeom>
          <a:noFill/>
          <a:ln/>
        </p:spPr>
        <p:txBody>
          <a:bodyPr wrap="square" lIns="0" tIns="0" rIns="0" bIns="0" rtlCol="0" anchor="ctr"/>
          <a:lstStyle/>
          <a:p>
            <a:pPr algn="ctr" indent="0" marL="0">
              <a:buNone/>
            </a:pPr>
            <a:r>
              <a:rPr lang="en-US" sz="1100" spc="400" kern="0" dirty="0">
                <a:solidFill>
                  <a:srgbClr val="94A3B8"/>
                </a:solidFill>
                <a:latin typeface="Calibri" pitchFamily="34" charset="0"/>
                <a:ea typeface="Calibri" pitchFamily="34" charset="-122"/>
                <a:cs typeface="Calibri" pitchFamily="34" charset="-120"/>
              </a:rPr>
              <a:t>TX / min</a:t>
            </a:r>
            <a:endParaRPr lang="en-US" sz="1100" dirty="0"/>
          </a:p>
        </p:txBody>
      </p:sp>
      <p:sp>
        <p:nvSpPr>
          <p:cNvPr id="13" name="Shape 11"/>
          <p:cNvSpPr/>
          <p:nvPr/>
        </p:nvSpPr>
        <p:spPr>
          <a:xfrm>
            <a:off x="3474720" y="2514600"/>
            <a:ext cx="2468880" cy="1005840"/>
          </a:xfrm>
          <a:prstGeom prst="rect">
            <a:avLst/>
          </a:prstGeom>
          <a:solidFill>
            <a:srgbClr val="1E293B"/>
          </a:solidFill>
          <a:ln/>
        </p:spPr>
      </p:sp>
      <p:sp>
        <p:nvSpPr>
          <p:cNvPr id="14" name="Text 12"/>
          <p:cNvSpPr/>
          <p:nvPr/>
        </p:nvSpPr>
        <p:spPr>
          <a:xfrm>
            <a:off x="3474720" y="2606040"/>
            <a:ext cx="2468880" cy="502920"/>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1.8s</a:t>
            </a:r>
            <a:endParaRPr lang="en-US" sz="3000" dirty="0"/>
          </a:p>
        </p:txBody>
      </p:sp>
      <p:sp>
        <p:nvSpPr>
          <p:cNvPr id="15" name="Text 13"/>
          <p:cNvSpPr/>
          <p:nvPr/>
        </p:nvSpPr>
        <p:spPr>
          <a:xfrm>
            <a:off x="3474720" y="3108960"/>
            <a:ext cx="2468880" cy="320040"/>
          </a:xfrm>
          <a:prstGeom prst="rect">
            <a:avLst/>
          </a:prstGeom>
          <a:noFill/>
          <a:ln/>
        </p:spPr>
        <p:txBody>
          <a:bodyPr wrap="square" lIns="0" tIns="0" rIns="0" bIns="0" rtlCol="0" anchor="ctr"/>
          <a:lstStyle/>
          <a:p>
            <a:pPr algn="ctr" indent="0" marL="0">
              <a:buNone/>
            </a:pPr>
            <a:r>
              <a:rPr lang="en-US" sz="1100" spc="400" kern="0" dirty="0">
                <a:solidFill>
                  <a:srgbClr val="94A3B8"/>
                </a:solidFill>
                <a:latin typeface="Calibri" pitchFamily="34" charset="0"/>
                <a:ea typeface="Calibri" pitchFamily="34" charset="-122"/>
                <a:cs typeface="Calibri" pitchFamily="34" charset="-120"/>
              </a:rPr>
              <a:t>P95 latency</a:t>
            </a:r>
            <a:endParaRPr lang="en-US" sz="1100" dirty="0"/>
          </a:p>
        </p:txBody>
      </p:sp>
      <p:sp>
        <p:nvSpPr>
          <p:cNvPr id="16" name="Shape 14"/>
          <p:cNvSpPr/>
          <p:nvPr/>
        </p:nvSpPr>
        <p:spPr>
          <a:xfrm>
            <a:off x="6172200" y="2514600"/>
            <a:ext cx="2468880" cy="1005840"/>
          </a:xfrm>
          <a:prstGeom prst="rect">
            <a:avLst/>
          </a:prstGeom>
          <a:solidFill>
            <a:srgbClr val="1E293B"/>
          </a:solidFill>
          <a:ln/>
        </p:spPr>
      </p:sp>
      <p:sp>
        <p:nvSpPr>
          <p:cNvPr id="17" name="Text 15"/>
          <p:cNvSpPr/>
          <p:nvPr/>
        </p:nvSpPr>
        <p:spPr>
          <a:xfrm>
            <a:off x="6172200" y="2606040"/>
            <a:ext cx="2468880" cy="502920"/>
          </a:xfrm>
          <a:prstGeom prst="rect">
            <a:avLst/>
          </a:prstGeom>
          <a:noFill/>
          <a:ln/>
        </p:spPr>
        <p:txBody>
          <a:bodyPr wrap="square" lIns="0" tIns="0" rIns="0" bIns="0" rtlCol="0" anchor="ctr"/>
          <a:lstStyle/>
          <a:p>
            <a:pPr algn="ctr" indent="0" marL="0">
              <a:buNone/>
            </a:pPr>
            <a:r>
              <a:rPr lang="en-US" sz="3000" b="1" dirty="0">
                <a:solidFill>
                  <a:srgbClr val="E11D48"/>
                </a:solidFill>
                <a:latin typeface="Calibri" pitchFamily="34" charset="0"/>
                <a:ea typeface="Calibri" pitchFamily="34" charset="-122"/>
                <a:cs typeface="Calibri" pitchFamily="34" charset="-120"/>
              </a:rPr>
              <a:t>3</a:t>
            </a:r>
            <a:endParaRPr lang="en-US" sz="3000" dirty="0"/>
          </a:p>
        </p:txBody>
      </p:sp>
      <p:sp>
        <p:nvSpPr>
          <p:cNvPr id="18" name="Text 16"/>
          <p:cNvSpPr/>
          <p:nvPr/>
        </p:nvSpPr>
        <p:spPr>
          <a:xfrm>
            <a:off x="6172200" y="3108960"/>
            <a:ext cx="2468880" cy="320040"/>
          </a:xfrm>
          <a:prstGeom prst="rect">
            <a:avLst/>
          </a:prstGeom>
          <a:noFill/>
          <a:ln/>
        </p:spPr>
        <p:txBody>
          <a:bodyPr wrap="square" lIns="0" tIns="0" rIns="0" bIns="0" rtlCol="0" anchor="ctr"/>
          <a:lstStyle/>
          <a:p>
            <a:pPr algn="ctr" indent="0" marL="0">
              <a:buNone/>
            </a:pPr>
            <a:r>
              <a:rPr lang="en-US" sz="1100" spc="400" kern="0" dirty="0">
                <a:solidFill>
                  <a:srgbClr val="94A3B8"/>
                </a:solidFill>
                <a:latin typeface="Calibri" pitchFamily="34" charset="0"/>
                <a:ea typeface="Calibri" pitchFamily="34" charset="-122"/>
                <a:cs typeface="Calibri" pitchFamily="34" charset="-120"/>
              </a:rPr>
              <a:t>Active alerts</a:t>
            </a:r>
            <a:endParaRPr lang="en-US" sz="1100" dirty="0"/>
          </a:p>
        </p:txBody>
      </p:sp>
      <p:sp>
        <p:nvSpPr>
          <p:cNvPr id="19" name="Shape 17"/>
          <p:cNvSpPr/>
          <p:nvPr/>
        </p:nvSpPr>
        <p:spPr>
          <a:xfrm>
            <a:off x="8869680" y="2514600"/>
            <a:ext cx="2468880" cy="1005840"/>
          </a:xfrm>
          <a:prstGeom prst="rect">
            <a:avLst/>
          </a:prstGeom>
          <a:solidFill>
            <a:srgbClr val="1E293B"/>
          </a:solidFill>
          <a:ln/>
        </p:spPr>
      </p:sp>
      <p:sp>
        <p:nvSpPr>
          <p:cNvPr id="20" name="Text 18"/>
          <p:cNvSpPr/>
          <p:nvPr/>
        </p:nvSpPr>
        <p:spPr>
          <a:xfrm>
            <a:off x="8869680" y="2606040"/>
            <a:ext cx="2468880" cy="502920"/>
          </a:xfrm>
          <a:prstGeom prst="rect">
            <a:avLst/>
          </a:prstGeom>
          <a:noFill/>
          <a:ln/>
        </p:spPr>
        <p:txBody>
          <a:bodyPr wrap="square" lIns="0" tIns="0" rIns="0" bIns="0" rtlCol="0" anchor="ctr"/>
          <a:lstStyle/>
          <a:p>
            <a:pPr algn="ctr" indent="0" marL="0">
              <a:buNone/>
            </a:pPr>
            <a:r>
              <a:rPr lang="en-US" sz="3000" b="1" dirty="0">
                <a:solidFill>
                  <a:srgbClr val="1E40AF"/>
                </a:solidFill>
                <a:latin typeface="Calibri" pitchFamily="34" charset="0"/>
                <a:ea typeface="Calibri" pitchFamily="34" charset="-122"/>
                <a:cs typeface="Calibri" pitchFamily="34" charset="-120"/>
              </a:rPr>
              <a:t>94%</a:t>
            </a:r>
            <a:endParaRPr lang="en-US" sz="3000" dirty="0"/>
          </a:p>
        </p:txBody>
      </p:sp>
      <p:sp>
        <p:nvSpPr>
          <p:cNvPr id="21" name="Text 19"/>
          <p:cNvSpPr/>
          <p:nvPr/>
        </p:nvSpPr>
        <p:spPr>
          <a:xfrm>
            <a:off x="8869680" y="3108960"/>
            <a:ext cx="2468880" cy="320040"/>
          </a:xfrm>
          <a:prstGeom prst="rect">
            <a:avLst/>
          </a:prstGeom>
          <a:noFill/>
          <a:ln/>
        </p:spPr>
        <p:txBody>
          <a:bodyPr wrap="square" lIns="0" tIns="0" rIns="0" bIns="0" rtlCol="0" anchor="ctr"/>
          <a:lstStyle/>
          <a:p>
            <a:pPr algn="ctr" indent="0" marL="0">
              <a:buNone/>
            </a:pPr>
            <a:r>
              <a:rPr lang="en-US" sz="1100" spc="400" kern="0" dirty="0">
                <a:solidFill>
                  <a:srgbClr val="94A3B8"/>
                </a:solidFill>
                <a:latin typeface="Calibri" pitchFamily="34" charset="0"/>
                <a:ea typeface="Calibri" pitchFamily="34" charset="-122"/>
                <a:cs typeface="Calibri" pitchFamily="34" charset="-120"/>
              </a:rPr>
              <a:t>Success rate</a:t>
            </a:r>
            <a:endParaRPr lang="en-US" sz="1100" dirty="0"/>
          </a:p>
        </p:txBody>
      </p:sp>
      <p:sp>
        <p:nvSpPr>
          <p:cNvPr id="22" name="Shape 20"/>
          <p:cNvSpPr/>
          <p:nvPr/>
        </p:nvSpPr>
        <p:spPr>
          <a:xfrm>
            <a:off x="777240" y="3657600"/>
            <a:ext cx="6583680" cy="2468880"/>
          </a:xfrm>
          <a:prstGeom prst="rect">
            <a:avLst/>
          </a:prstGeom>
          <a:solidFill>
            <a:srgbClr val="1E293B"/>
          </a:solidFill>
          <a:ln/>
        </p:spPr>
      </p:sp>
      <p:sp>
        <p:nvSpPr>
          <p:cNvPr id="23" name="Text 21"/>
          <p:cNvSpPr/>
          <p:nvPr/>
        </p:nvSpPr>
        <p:spPr>
          <a:xfrm>
            <a:off x="914400" y="3749040"/>
            <a:ext cx="6400800" cy="27432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TPS over time</a:t>
            </a:r>
            <a:endParaRPr lang="en-US" sz="1100" dirty="0"/>
          </a:p>
        </p:txBody>
      </p:sp>
      <p:sp>
        <p:nvSpPr>
          <p:cNvPr id="24" name="Shape 22"/>
          <p:cNvSpPr/>
          <p:nvPr/>
        </p:nvSpPr>
        <p:spPr>
          <a:xfrm>
            <a:off x="960120" y="5669280"/>
            <a:ext cx="164592" cy="274320"/>
          </a:xfrm>
          <a:prstGeom prst="rect">
            <a:avLst/>
          </a:prstGeom>
          <a:solidFill>
            <a:srgbClr val="0D9488"/>
          </a:solidFill>
          <a:ln/>
        </p:spPr>
      </p:sp>
      <p:sp>
        <p:nvSpPr>
          <p:cNvPr id="25" name="Shape 23"/>
          <p:cNvSpPr/>
          <p:nvPr/>
        </p:nvSpPr>
        <p:spPr>
          <a:xfrm>
            <a:off x="1170432" y="5290967"/>
            <a:ext cx="164592" cy="652633"/>
          </a:xfrm>
          <a:prstGeom prst="rect">
            <a:avLst/>
          </a:prstGeom>
          <a:solidFill>
            <a:srgbClr val="0D9488"/>
          </a:solidFill>
          <a:ln/>
        </p:spPr>
      </p:sp>
      <p:sp>
        <p:nvSpPr>
          <p:cNvPr id="26" name="Shape 24"/>
          <p:cNvSpPr/>
          <p:nvPr/>
        </p:nvSpPr>
        <p:spPr>
          <a:xfrm>
            <a:off x="1380744" y="4946447"/>
            <a:ext cx="164592" cy="997153"/>
          </a:xfrm>
          <a:prstGeom prst="rect">
            <a:avLst/>
          </a:prstGeom>
          <a:solidFill>
            <a:srgbClr val="0D9488"/>
          </a:solidFill>
          <a:ln/>
        </p:spPr>
      </p:sp>
      <p:sp>
        <p:nvSpPr>
          <p:cNvPr id="27" name="Shape 25"/>
          <p:cNvSpPr/>
          <p:nvPr/>
        </p:nvSpPr>
        <p:spPr>
          <a:xfrm>
            <a:off x="1591056" y="4666496"/>
            <a:ext cx="164592" cy="1277104"/>
          </a:xfrm>
          <a:prstGeom prst="rect">
            <a:avLst/>
          </a:prstGeom>
          <a:solidFill>
            <a:srgbClr val="0D9488"/>
          </a:solidFill>
          <a:ln/>
        </p:spPr>
      </p:sp>
      <p:sp>
        <p:nvSpPr>
          <p:cNvPr id="28" name="Shape 26"/>
          <p:cNvSpPr/>
          <p:nvPr/>
        </p:nvSpPr>
        <p:spPr>
          <a:xfrm>
            <a:off x="1801368" y="4476121"/>
            <a:ext cx="164592" cy="1467479"/>
          </a:xfrm>
          <a:prstGeom prst="rect">
            <a:avLst/>
          </a:prstGeom>
          <a:solidFill>
            <a:srgbClr val="0D9488"/>
          </a:solidFill>
          <a:ln/>
        </p:spPr>
      </p:sp>
      <p:sp>
        <p:nvSpPr>
          <p:cNvPr id="29" name="Shape 27"/>
          <p:cNvSpPr/>
          <p:nvPr/>
        </p:nvSpPr>
        <p:spPr>
          <a:xfrm>
            <a:off x="2011680" y="4392327"/>
            <a:ext cx="164592" cy="1551273"/>
          </a:xfrm>
          <a:prstGeom prst="rect">
            <a:avLst/>
          </a:prstGeom>
          <a:solidFill>
            <a:srgbClr val="0D9488"/>
          </a:solidFill>
          <a:ln/>
        </p:spPr>
      </p:sp>
      <p:sp>
        <p:nvSpPr>
          <p:cNvPr id="30" name="Shape 28"/>
          <p:cNvSpPr/>
          <p:nvPr/>
        </p:nvSpPr>
        <p:spPr>
          <a:xfrm>
            <a:off x="2221992" y="4422599"/>
            <a:ext cx="164592" cy="1521001"/>
          </a:xfrm>
          <a:prstGeom prst="rect">
            <a:avLst/>
          </a:prstGeom>
          <a:solidFill>
            <a:srgbClr val="0D9488"/>
          </a:solidFill>
          <a:ln/>
        </p:spPr>
      </p:sp>
      <p:sp>
        <p:nvSpPr>
          <p:cNvPr id="31" name="Shape 29"/>
          <p:cNvSpPr/>
          <p:nvPr/>
        </p:nvSpPr>
        <p:spPr>
          <a:xfrm>
            <a:off x="2432304" y="4564234"/>
            <a:ext cx="164592" cy="1379366"/>
          </a:xfrm>
          <a:prstGeom prst="rect">
            <a:avLst/>
          </a:prstGeom>
          <a:solidFill>
            <a:srgbClr val="0D9488"/>
          </a:solidFill>
          <a:ln/>
        </p:spPr>
      </p:sp>
      <p:sp>
        <p:nvSpPr>
          <p:cNvPr id="32" name="Shape 30"/>
          <p:cNvSpPr/>
          <p:nvPr/>
        </p:nvSpPr>
        <p:spPr>
          <a:xfrm>
            <a:off x="2642616" y="4804579"/>
            <a:ext cx="164592" cy="1139021"/>
          </a:xfrm>
          <a:prstGeom prst="rect">
            <a:avLst/>
          </a:prstGeom>
          <a:solidFill>
            <a:srgbClr val="0D9488"/>
          </a:solidFill>
          <a:ln/>
        </p:spPr>
      </p:sp>
      <p:sp>
        <p:nvSpPr>
          <p:cNvPr id="33" name="Shape 31"/>
          <p:cNvSpPr/>
          <p:nvPr/>
        </p:nvSpPr>
        <p:spPr>
          <a:xfrm>
            <a:off x="2852928" y="5122165"/>
            <a:ext cx="164592" cy="821435"/>
          </a:xfrm>
          <a:prstGeom prst="rect">
            <a:avLst/>
          </a:prstGeom>
          <a:solidFill>
            <a:srgbClr val="0D9488"/>
          </a:solidFill>
          <a:ln/>
        </p:spPr>
      </p:sp>
      <p:sp>
        <p:nvSpPr>
          <p:cNvPr id="34" name="Shape 32"/>
          <p:cNvSpPr/>
          <p:nvPr/>
        </p:nvSpPr>
        <p:spPr>
          <a:xfrm>
            <a:off x="3063240" y="5488624"/>
            <a:ext cx="164592" cy="454976"/>
          </a:xfrm>
          <a:prstGeom prst="rect">
            <a:avLst/>
          </a:prstGeom>
          <a:solidFill>
            <a:srgbClr val="0D9488"/>
          </a:solidFill>
          <a:ln/>
        </p:spPr>
      </p:sp>
      <p:sp>
        <p:nvSpPr>
          <p:cNvPr id="35" name="Shape 33"/>
          <p:cNvSpPr/>
          <p:nvPr/>
        </p:nvSpPr>
        <p:spPr>
          <a:xfrm>
            <a:off x="3273552" y="5467340"/>
            <a:ext cx="164592" cy="476260"/>
          </a:xfrm>
          <a:prstGeom prst="rect">
            <a:avLst/>
          </a:prstGeom>
          <a:solidFill>
            <a:srgbClr val="0D9488"/>
          </a:solidFill>
          <a:ln/>
        </p:spPr>
      </p:sp>
      <p:sp>
        <p:nvSpPr>
          <p:cNvPr id="36" name="Shape 34"/>
          <p:cNvSpPr/>
          <p:nvPr/>
        </p:nvSpPr>
        <p:spPr>
          <a:xfrm>
            <a:off x="3483864" y="5102783"/>
            <a:ext cx="164592" cy="840817"/>
          </a:xfrm>
          <a:prstGeom prst="rect">
            <a:avLst/>
          </a:prstGeom>
          <a:solidFill>
            <a:srgbClr val="0D9488"/>
          </a:solidFill>
          <a:ln/>
        </p:spPr>
      </p:sp>
      <p:sp>
        <p:nvSpPr>
          <p:cNvPr id="37" name="Shape 35"/>
          <p:cNvSpPr/>
          <p:nvPr/>
        </p:nvSpPr>
        <p:spPr>
          <a:xfrm>
            <a:off x="3694176" y="4788829"/>
            <a:ext cx="164592" cy="1154771"/>
          </a:xfrm>
          <a:prstGeom prst="rect">
            <a:avLst/>
          </a:prstGeom>
          <a:solidFill>
            <a:srgbClr val="0D9488"/>
          </a:solidFill>
          <a:ln/>
        </p:spPr>
      </p:sp>
      <p:sp>
        <p:nvSpPr>
          <p:cNvPr id="38" name="Shape 36"/>
          <p:cNvSpPr/>
          <p:nvPr/>
        </p:nvSpPr>
        <p:spPr>
          <a:xfrm>
            <a:off x="3904488" y="4553524"/>
            <a:ext cx="164592" cy="1390076"/>
          </a:xfrm>
          <a:prstGeom prst="rect">
            <a:avLst/>
          </a:prstGeom>
          <a:solidFill>
            <a:srgbClr val="0D9488"/>
          </a:solidFill>
          <a:ln/>
        </p:spPr>
      </p:sp>
      <p:sp>
        <p:nvSpPr>
          <p:cNvPr id="39" name="Shape 37"/>
          <p:cNvSpPr/>
          <p:nvPr/>
        </p:nvSpPr>
        <p:spPr>
          <a:xfrm>
            <a:off x="4114800" y="4417885"/>
            <a:ext cx="164592" cy="1525715"/>
          </a:xfrm>
          <a:prstGeom prst="rect">
            <a:avLst/>
          </a:prstGeom>
          <a:solidFill>
            <a:srgbClr val="0D9488"/>
          </a:solidFill>
          <a:ln/>
        </p:spPr>
      </p:sp>
      <p:sp>
        <p:nvSpPr>
          <p:cNvPr id="40" name="Shape 38"/>
          <p:cNvSpPr/>
          <p:nvPr/>
        </p:nvSpPr>
        <p:spPr>
          <a:xfrm>
            <a:off x="4325112" y="4394030"/>
            <a:ext cx="164592" cy="1549570"/>
          </a:xfrm>
          <a:prstGeom prst="rect">
            <a:avLst/>
          </a:prstGeom>
          <a:solidFill>
            <a:srgbClr val="0D9488"/>
          </a:solidFill>
          <a:ln/>
        </p:spPr>
      </p:sp>
      <p:sp>
        <p:nvSpPr>
          <p:cNvPr id="41" name="Shape 39"/>
          <p:cNvSpPr/>
          <p:nvPr/>
        </p:nvSpPr>
        <p:spPr>
          <a:xfrm>
            <a:off x="4535424" y="4484089"/>
            <a:ext cx="164592" cy="1459511"/>
          </a:xfrm>
          <a:prstGeom prst="rect">
            <a:avLst/>
          </a:prstGeom>
          <a:solidFill>
            <a:srgbClr val="0D9488"/>
          </a:solidFill>
          <a:ln/>
        </p:spPr>
      </p:sp>
      <p:sp>
        <p:nvSpPr>
          <p:cNvPr id="42" name="Shape 40"/>
          <p:cNvSpPr/>
          <p:nvPr/>
        </p:nvSpPr>
        <p:spPr>
          <a:xfrm>
            <a:off x="4745736" y="4680018"/>
            <a:ext cx="164592" cy="1263582"/>
          </a:xfrm>
          <a:prstGeom prst="rect">
            <a:avLst/>
          </a:prstGeom>
          <a:solidFill>
            <a:srgbClr val="0D9488"/>
          </a:solidFill>
          <a:ln/>
        </p:spPr>
      </p:sp>
      <p:sp>
        <p:nvSpPr>
          <p:cNvPr id="43" name="Shape 41"/>
          <p:cNvSpPr/>
          <p:nvPr/>
        </p:nvSpPr>
        <p:spPr>
          <a:xfrm>
            <a:off x="4956048" y="4964314"/>
            <a:ext cx="164592" cy="979286"/>
          </a:xfrm>
          <a:prstGeom prst="rect">
            <a:avLst/>
          </a:prstGeom>
          <a:solidFill>
            <a:srgbClr val="0D9488"/>
          </a:solidFill>
          <a:ln/>
        </p:spPr>
      </p:sp>
      <p:sp>
        <p:nvSpPr>
          <p:cNvPr id="44" name="Shape 42"/>
          <p:cNvSpPr/>
          <p:nvPr/>
        </p:nvSpPr>
        <p:spPr>
          <a:xfrm>
            <a:off x="5166360" y="5311583"/>
            <a:ext cx="164592" cy="632017"/>
          </a:xfrm>
          <a:prstGeom prst="rect">
            <a:avLst/>
          </a:prstGeom>
          <a:solidFill>
            <a:srgbClr val="0D9488"/>
          </a:solidFill>
          <a:ln/>
        </p:spPr>
      </p:sp>
      <p:sp>
        <p:nvSpPr>
          <p:cNvPr id="45" name="Shape 43"/>
          <p:cNvSpPr/>
          <p:nvPr/>
        </p:nvSpPr>
        <p:spPr>
          <a:xfrm>
            <a:off x="5376672" y="5647756"/>
            <a:ext cx="164592" cy="295844"/>
          </a:xfrm>
          <a:prstGeom prst="rect">
            <a:avLst/>
          </a:prstGeom>
          <a:solidFill>
            <a:srgbClr val="0D9488"/>
          </a:solidFill>
          <a:ln/>
        </p:spPr>
      </p:sp>
      <p:sp>
        <p:nvSpPr>
          <p:cNvPr id="46" name="Shape 44"/>
          <p:cNvSpPr/>
          <p:nvPr/>
        </p:nvSpPr>
        <p:spPr>
          <a:xfrm>
            <a:off x="5586984" y="5270457"/>
            <a:ext cx="164592" cy="673143"/>
          </a:xfrm>
          <a:prstGeom prst="rect">
            <a:avLst/>
          </a:prstGeom>
          <a:solidFill>
            <a:srgbClr val="0D9488"/>
          </a:solidFill>
          <a:ln/>
        </p:spPr>
      </p:sp>
      <p:sp>
        <p:nvSpPr>
          <p:cNvPr id="47" name="Shape 45"/>
          <p:cNvSpPr/>
          <p:nvPr/>
        </p:nvSpPr>
        <p:spPr>
          <a:xfrm>
            <a:off x="5797296" y="4928785"/>
            <a:ext cx="164592" cy="1014815"/>
          </a:xfrm>
          <a:prstGeom prst="rect">
            <a:avLst/>
          </a:prstGeom>
          <a:solidFill>
            <a:srgbClr val="E11D48"/>
          </a:solidFill>
          <a:ln/>
        </p:spPr>
      </p:sp>
      <p:sp>
        <p:nvSpPr>
          <p:cNvPr id="48" name="Shape 46"/>
          <p:cNvSpPr/>
          <p:nvPr/>
        </p:nvSpPr>
        <p:spPr>
          <a:xfrm>
            <a:off x="6007608" y="4653258"/>
            <a:ext cx="164592" cy="1290342"/>
          </a:xfrm>
          <a:prstGeom prst="rect">
            <a:avLst/>
          </a:prstGeom>
          <a:solidFill>
            <a:srgbClr val="E11D48"/>
          </a:solidFill>
          <a:ln/>
        </p:spPr>
      </p:sp>
      <p:sp>
        <p:nvSpPr>
          <p:cNvPr id="49" name="Shape 47"/>
          <p:cNvSpPr/>
          <p:nvPr/>
        </p:nvSpPr>
        <p:spPr>
          <a:xfrm>
            <a:off x="6217920" y="4468490"/>
            <a:ext cx="164592" cy="1475110"/>
          </a:xfrm>
          <a:prstGeom prst="rect">
            <a:avLst/>
          </a:prstGeom>
          <a:solidFill>
            <a:srgbClr val="E11D48"/>
          </a:solidFill>
          <a:ln/>
        </p:spPr>
      </p:sp>
      <p:sp>
        <p:nvSpPr>
          <p:cNvPr id="50" name="Shape 48"/>
          <p:cNvSpPr/>
          <p:nvPr/>
        </p:nvSpPr>
        <p:spPr>
          <a:xfrm>
            <a:off x="6428232" y="4390985"/>
            <a:ext cx="164592" cy="1552615"/>
          </a:xfrm>
          <a:prstGeom prst="rect">
            <a:avLst/>
          </a:prstGeom>
          <a:solidFill>
            <a:srgbClr val="E11D48"/>
          </a:solidFill>
          <a:ln/>
        </p:spPr>
      </p:sp>
      <p:sp>
        <p:nvSpPr>
          <p:cNvPr id="51" name="Shape 49"/>
          <p:cNvSpPr/>
          <p:nvPr/>
        </p:nvSpPr>
        <p:spPr>
          <a:xfrm>
            <a:off x="6638544" y="4427666"/>
            <a:ext cx="164592" cy="1515934"/>
          </a:xfrm>
          <a:prstGeom prst="rect">
            <a:avLst/>
          </a:prstGeom>
          <a:solidFill>
            <a:srgbClr val="E11D48"/>
          </a:solidFill>
          <a:ln/>
        </p:spPr>
      </p:sp>
      <p:sp>
        <p:nvSpPr>
          <p:cNvPr id="52" name="Shape 50"/>
          <p:cNvSpPr/>
          <p:nvPr/>
        </p:nvSpPr>
        <p:spPr>
          <a:xfrm>
            <a:off x="6848856" y="4575257"/>
            <a:ext cx="164592" cy="1368343"/>
          </a:xfrm>
          <a:prstGeom prst="rect">
            <a:avLst/>
          </a:prstGeom>
          <a:solidFill>
            <a:srgbClr val="E11D48"/>
          </a:solidFill>
          <a:ln/>
        </p:spPr>
      </p:sp>
      <p:sp>
        <p:nvSpPr>
          <p:cNvPr id="53" name="Shape 51"/>
          <p:cNvSpPr/>
          <p:nvPr/>
        </p:nvSpPr>
        <p:spPr>
          <a:xfrm>
            <a:off x="7059168" y="4820573"/>
            <a:ext cx="164592" cy="1123027"/>
          </a:xfrm>
          <a:prstGeom prst="rect">
            <a:avLst/>
          </a:prstGeom>
          <a:solidFill>
            <a:srgbClr val="E11D48"/>
          </a:solidFill>
          <a:ln/>
        </p:spPr>
      </p:sp>
      <p:sp>
        <p:nvSpPr>
          <p:cNvPr id="54" name="Text 52"/>
          <p:cNvSpPr/>
          <p:nvPr/>
        </p:nvSpPr>
        <p:spPr>
          <a:xfrm>
            <a:off x="3931920" y="3767328"/>
            <a:ext cx="1828800" cy="274320"/>
          </a:xfrm>
          <a:prstGeom prst="rect">
            <a:avLst/>
          </a:prstGeom>
          <a:noFill/>
          <a:ln/>
        </p:spPr>
        <p:txBody>
          <a:bodyPr wrap="square" lIns="0" tIns="0" rIns="0" bIns="0" rtlCol="0" anchor="ctr"/>
          <a:lstStyle/>
          <a:p>
            <a:pPr algn="r" indent="0" marL="0">
              <a:buNone/>
            </a:pPr>
            <a:r>
              <a:rPr lang="en-US" sz="1000" b="1" i="1" dirty="0">
                <a:solidFill>
                  <a:srgbClr val="E11D48"/>
                </a:solidFill>
                <a:latin typeface="Calibri" pitchFamily="34" charset="0"/>
                <a:ea typeface="Calibri" pitchFamily="34" charset="-122"/>
                <a:cs typeface="Calibri" pitchFamily="34" charset="-120"/>
              </a:rPr>
              <a:t>fraud spike →</a:t>
            </a:r>
            <a:endParaRPr lang="en-US" sz="1000" dirty="0"/>
          </a:p>
        </p:txBody>
      </p:sp>
      <p:sp>
        <p:nvSpPr>
          <p:cNvPr id="55" name="Shape 53"/>
          <p:cNvSpPr/>
          <p:nvPr/>
        </p:nvSpPr>
        <p:spPr>
          <a:xfrm>
            <a:off x="7543800" y="3657600"/>
            <a:ext cx="3977640" cy="2468880"/>
          </a:xfrm>
          <a:prstGeom prst="rect">
            <a:avLst/>
          </a:prstGeom>
          <a:solidFill>
            <a:srgbClr val="1E293B"/>
          </a:solidFill>
          <a:ln/>
        </p:spPr>
      </p:sp>
      <p:sp>
        <p:nvSpPr>
          <p:cNvPr id="56" name="Text 54"/>
          <p:cNvSpPr/>
          <p:nvPr/>
        </p:nvSpPr>
        <p:spPr>
          <a:xfrm>
            <a:off x="7680960" y="3749040"/>
            <a:ext cx="3657600" cy="27432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Active alerts</a:t>
            </a:r>
            <a:endParaRPr lang="en-US" sz="1100" dirty="0"/>
          </a:p>
        </p:txBody>
      </p:sp>
      <p:sp>
        <p:nvSpPr>
          <p:cNvPr id="57" name="Shape 55"/>
          <p:cNvSpPr/>
          <p:nvPr/>
        </p:nvSpPr>
        <p:spPr>
          <a:xfrm>
            <a:off x="7680960" y="4114800"/>
            <a:ext cx="73152" cy="457200"/>
          </a:xfrm>
          <a:prstGeom prst="rect">
            <a:avLst/>
          </a:prstGeom>
          <a:solidFill>
            <a:srgbClr val="E11D48"/>
          </a:solidFill>
          <a:ln/>
        </p:spPr>
      </p:sp>
      <p:sp>
        <p:nvSpPr>
          <p:cNvPr id="58" name="Text 56"/>
          <p:cNvSpPr/>
          <p:nvPr/>
        </p:nvSpPr>
        <p:spPr>
          <a:xfrm>
            <a:off x="7818120" y="4114800"/>
            <a:ext cx="2011680" cy="22860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acc-7f3a</a:t>
            </a:r>
            <a:endParaRPr lang="en-US" sz="1200" dirty="0"/>
          </a:p>
        </p:txBody>
      </p:sp>
      <p:sp>
        <p:nvSpPr>
          <p:cNvPr id="59" name="Text 57"/>
          <p:cNvSpPr/>
          <p:nvPr/>
        </p:nvSpPr>
        <p:spPr>
          <a:xfrm>
            <a:off x="7818120" y="4343400"/>
            <a:ext cx="201168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20 TX/5m</a:t>
            </a:r>
            <a:endParaRPr lang="en-US" sz="1000" dirty="0"/>
          </a:p>
        </p:txBody>
      </p:sp>
      <p:sp>
        <p:nvSpPr>
          <p:cNvPr id="60" name="Text 58"/>
          <p:cNvSpPr/>
          <p:nvPr/>
        </p:nvSpPr>
        <p:spPr>
          <a:xfrm>
            <a:off x="10058400" y="4206240"/>
            <a:ext cx="1371600" cy="274320"/>
          </a:xfrm>
          <a:prstGeom prst="rect">
            <a:avLst/>
          </a:prstGeom>
          <a:noFill/>
          <a:ln/>
        </p:spPr>
        <p:txBody>
          <a:bodyPr wrap="square" lIns="0" tIns="0" rIns="0" bIns="0" rtlCol="0" anchor="ctr"/>
          <a:lstStyle/>
          <a:p>
            <a:pPr algn="r" indent="0" marL="0">
              <a:buNone/>
            </a:pPr>
            <a:r>
              <a:rPr lang="en-US" sz="900" b="1" spc="200" kern="0" dirty="0">
                <a:solidFill>
                  <a:srgbClr val="E11D48"/>
                </a:solidFill>
                <a:latin typeface="Calibri" pitchFamily="34" charset="0"/>
                <a:ea typeface="Calibri" pitchFamily="34" charset="-122"/>
                <a:cs typeface="Calibri" pitchFamily="34" charset="-120"/>
              </a:rPr>
              <a:t>BLOCK</a:t>
            </a:r>
            <a:endParaRPr lang="en-US" sz="900" dirty="0"/>
          </a:p>
        </p:txBody>
      </p:sp>
      <p:sp>
        <p:nvSpPr>
          <p:cNvPr id="61" name="Shape 59"/>
          <p:cNvSpPr/>
          <p:nvPr/>
        </p:nvSpPr>
        <p:spPr>
          <a:xfrm>
            <a:off x="7680960" y="4709160"/>
            <a:ext cx="73152" cy="457200"/>
          </a:xfrm>
          <a:prstGeom prst="rect">
            <a:avLst/>
          </a:prstGeom>
          <a:solidFill>
            <a:srgbClr val="F59E0B"/>
          </a:solidFill>
          <a:ln/>
        </p:spPr>
      </p:sp>
      <p:sp>
        <p:nvSpPr>
          <p:cNvPr id="62" name="Text 60"/>
          <p:cNvSpPr/>
          <p:nvPr/>
        </p:nvSpPr>
        <p:spPr>
          <a:xfrm>
            <a:off x="7818120" y="4709160"/>
            <a:ext cx="2011680" cy="22860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acc-1b8c</a:t>
            </a:r>
            <a:endParaRPr lang="en-US" sz="1200" dirty="0"/>
          </a:p>
        </p:txBody>
      </p:sp>
      <p:sp>
        <p:nvSpPr>
          <p:cNvPr id="63" name="Text 61"/>
          <p:cNvSpPr/>
          <p:nvPr/>
        </p:nvSpPr>
        <p:spPr>
          <a:xfrm>
            <a:off x="7818120" y="4937760"/>
            <a:ext cx="201168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150M VND</a:t>
            </a:r>
            <a:endParaRPr lang="en-US" sz="1000" dirty="0"/>
          </a:p>
        </p:txBody>
      </p:sp>
      <p:sp>
        <p:nvSpPr>
          <p:cNvPr id="64" name="Text 62"/>
          <p:cNvSpPr/>
          <p:nvPr/>
        </p:nvSpPr>
        <p:spPr>
          <a:xfrm>
            <a:off x="10058400" y="4800600"/>
            <a:ext cx="1371600" cy="274320"/>
          </a:xfrm>
          <a:prstGeom prst="rect">
            <a:avLst/>
          </a:prstGeom>
          <a:noFill/>
          <a:ln/>
        </p:spPr>
        <p:txBody>
          <a:bodyPr wrap="square" lIns="0" tIns="0" rIns="0" bIns="0" rtlCol="0" anchor="ctr"/>
          <a:lstStyle/>
          <a:p>
            <a:pPr algn="r" indent="0" marL="0">
              <a:buNone/>
            </a:pPr>
            <a:r>
              <a:rPr lang="en-US" sz="900" b="1" spc="200" kern="0" dirty="0">
                <a:solidFill>
                  <a:srgbClr val="F59E0B"/>
                </a:solidFill>
                <a:latin typeface="Calibri" pitchFamily="34" charset="0"/>
                <a:ea typeface="Calibri" pitchFamily="34" charset="-122"/>
                <a:cs typeface="Calibri" pitchFamily="34" charset="-120"/>
              </a:rPr>
              <a:t>BLOCK</a:t>
            </a:r>
            <a:endParaRPr lang="en-US" sz="900" dirty="0"/>
          </a:p>
        </p:txBody>
      </p:sp>
      <p:sp>
        <p:nvSpPr>
          <p:cNvPr id="65" name="Shape 63"/>
          <p:cNvSpPr/>
          <p:nvPr/>
        </p:nvSpPr>
        <p:spPr>
          <a:xfrm>
            <a:off x="7680960" y="5303520"/>
            <a:ext cx="73152" cy="457200"/>
          </a:xfrm>
          <a:prstGeom prst="rect">
            <a:avLst/>
          </a:prstGeom>
          <a:solidFill>
            <a:srgbClr val="1E40AF"/>
          </a:solidFill>
          <a:ln/>
        </p:spPr>
      </p:sp>
      <p:sp>
        <p:nvSpPr>
          <p:cNvPr id="66" name="Text 64"/>
          <p:cNvSpPr/>
          <p:nvPr/>
        </p:nvSpPr>
        <p:spPr>
          <a:xfrm>
            <a:off x="7818120" y="5303520"/>
            <a:ext cx="2011680" cy="22860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acc-9d2e</a:t>
            </a:r>
            <a:endParaRPr lang="en-US" sz="1200" dirty="0"/>
          </a:p>
        </p:txBody>
      </p:sp>
      <p:sp>
        <p:nvSpPr>
          <p:cNvPr id="67" name="Text 65"/>
          <p:cNvSpPr/>
          <p:nvPr/>
        </p:nvSpPr>
        <p:spPr>
          <a:xfrm>
            <a:off x="7818120" y="5532120"/>
            <a:ext cx="201168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5 currency</a:t>
            </a:r>
            <a:endParaRPr lang="en-US" sz="1000" dirty="0"/>
          </a:p>
        </p:txBody>
      </p:sp>
      <p:sp>
        <p:nvSpPr>
          <p:cNvPr id="68" name="Text 66"/>
          <p:cNvSpPr/>
          <p:nvPr/>
        </p:nvSpPr>
        <p:spPr>
          <a:xfrm>
            <a:off x="10058400" y="5394960"/>
            <a:ext cx="1371600" cy="274320"/>
          </a:xfrm>
          <a:prstGeom prst="rect">
            <a:avLst/>
          </a:prstGeom>
          <a:noFill/>
          <a:ln/>
        </p:spPr>
        <p:txBody>
          <a:bodyPr wrap="square" lIns="0" tIns="0" rIns="0" bIns="0" rtlCol="0" anchor="ctr"/>
          <a:lstStyle/>
          <a:p>
            <a:pPr algn="r" indent="0" marL="0">
              <a:buNone/>
            </a:pPr>
            <a:r>
              <a:rPr lang="en-US" sz="900" b="1" spc="200" kern="0" dirty="0">
                <a:solidFill>
                  <a:srgbClr val="1E40AF"/>
                </a:solidFill>
                <a:latin typeface="Calibri" pitchFamily="34" charset="0"/>
                <a:ea typeface="Calibri" pitchFamily="34" charset="-122"/>
                <a:cs typeface="Calibri" pitchFamily="34" charset="-120"/>
              </a:rPr>
              <a:t>BLOCK</a:t>
            </a:r>
            <a:endParaRPr lang="en-US" sz="900" dirty="0"/>
          </a:p>
        </p:txBody>
      </p:sp>
      <p:sp>
        <p:nvSpPr>
          <p:cNvPr id="69" name="Shape 67"/>
          <p:cNvSpPr/>
          <p:nvPr/>
        </p:nvSpPr>
        <p:spPr>
          <a:xfrm>
            <a:off x="457200" y="6537960"/>
            <a:ext cx="11274552" cy="4572"/>
          </a:xfrm>
          <a:prstGeom prst="rect">
            <a:avLst/>
          </a:prstGeom>
          <a:solidFill>
            <a:srgbClr val="E2E8F0"/>
          </a:solidFill>
          <a:ln/>
        </p:spPr>
      </p:sp>
      <p:sp>
        <p:nvSpPr>
          <p:cNvPr id="70" name="Text 68"/>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71" name="Text 69"/>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04 · Kết quả</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Latency end-to-end</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Từ INSERT trong PostgreSQL đến row queryable ở ClickHouse · 100 samples</a:t>
            </a:r>
            <a:endParaRPr lang="en-US" sz="1300" dirty="0"/>
          </a:p>
        </p:txBody>
      </p:sp>
      <p:sp>
        <p:nvSpPr>
          <p:cNvPr id="6" name="Shape 4"/>
          <p:cNvSpPr/>
          <p:nvPr/>
        </p:nvSpPr>
        <p:spPr>
          <a:xfrm>
            <a:off x="548640" y="1920240"/>
            <a:ext cx="2606040" cy="228600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7" name="Text 5"/>
          <p:cNvSpPr/>
          <p:nvPr/>
        </p:nvSpPr>
        <p:spPr>
          <a:xfrm>
            <a:off x="548640" y="2057400"/>
            <a:ext cx="2606040" cy="320040"/>
          </a:xfrm>
          <a:prstGeom prst="rect">
            <a:avLst/>
          </a:prstGeom>
          <a:noFill/>
          <a:ln/>
        </p:spPr>
        <p:txBody>
          <a:bodyPr wrap="square" lIns="0" tIns="0" rIns="0" bIns="0" rtlCol="0" anchor="ctr"/>
          <a:lstStyle/>
          <a:p>
            <a:pPr algn="ctr" indent="0" marL="0">
              <a:buNone/>
            </a:pPr>
            <a:r>
              <a:rPr lang="en-US" sz="1200" b="1" spc="400" kern="0" dirty="0">
                <a:solidFill>
                  <a:srgbClr val="10B981"/>
                </a:solidFill>
                <a:latin typeface="Calibri" pitchFamily="34" charset="0"/>
                <a:ea typeface="Calibri" pitchFamily="34" charset="-122"/>
                <a:cs typeface="Calibri" pitchFamily="34" charset="-120"/>
              </a:rPr>
              <a:t>P50</a:t>
            </a:r>
            <a:endParaRPr lang="en-US" sz="1200" dirty="0"/>
          </a:p>
        </p:txBody>
      </p:sp>
      <p:sp>
        <p:nvSpPr>
          <p:cNvPr id="8" name="Text 6"/>
          <p:cNvSpPr/>
          <p:nvPr/>
        </p:nvSpPr>
        <p:spPr>
          <a:xfrm>
            <a:off x="548640" y="2423160"/>
            <a:ext cx="2606040" cy="777240"/>
          </a:xfrm>
          <a:prstGeom prst="rect">
            <a:avLst/>
          </a:prstGeom>
          <a:noFill/>
          <a:ln/>
        </p:spPr>
        <p:txBody>
          <a:bodyPr wrap="square" lIns="0" tIns="0" rIns="0" bIns="0" rtlCol="0" anchor="ctr"/>
          <a:lstStyle/>
          <a:p>
            <a:pPr algn="ctr" indent="0" marL="0">
              <a:buNone/>
            </a:pPr>
            <a:r>
              <a:rPr lang="en-US" sz="4800" b="1" dirty="0">
                <a:solidFill>
                  <a:srgbClr val="0F172A"/>
                </a:solidFill>
                <a:latin typeface="Calibri" pitchFamily="34" charset="0"/>
                <a:ea typeface="Calibri" pitchFamily="34" charset="-122"/>
                <a:cs typeface="Calibri" pitchFamily="34" charset="-120"/>
              </a:rPr>
              <a:t>450</a:t>
            </a:r>
            <a:endParaRPr lang="en-US" sz="4800" dirty="0"/>
          </a:p>
        </p:txBody>
      </p:sp>
      <p:sp>
        <p:nvSpPr>
          <p:cNvPr id="9" name="Text 7"/>
          <p:cNvSpPr/>
          <p:nvPr/>
        </p:nvSpPr>
        <p:spPr>
          <a:xfrm>
            <a:off x="548640" y="3246120"/>
            <a:ext cx="2606040" cy="32004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ms</a:t>
            </a:r>
            <a:endParaRPr lang="en-US" sz="1400" dirty="0"/>
          </a:p>
        </p:txBody>
      </p:sp>
      <p:sp>
        <p:nvSpPr>
          <p:cNvPr id="10" name="Shape 8"/>
          <p:cNvSpPr/>
          <p:nvPr/>
        </p:nvSpPr>
        <p:spPr>
          <a:xfrm>
            <a:off x="822960" y="3703320"/>
            <a:ext cx="2057400" cy="137160"/>
          </a:xfrm>
          <a:prstGeom prst="rect">
            <a:avLst/>
          </a:prstGeom>
          <a:solidFill>
            <a:srgbClr val="E2E8F0"/>
          </a:solidFill>
          <a:ln/>
        </p:spPr>
      </p:sp>
      <p:sp>
        <p:nvSpPr>
          <p:cNvPr id="11" name="Shape 9"/>
          <p:cNvSpPr/>
          <p:nvPr/>
        </p:nvSpPr>
        <p:spPr>
          <a:xfrm>
            <a:off x="822960" y="3703320"/>
            <a:ext cx="411480" cy="137160"/>
          </a:xfrm>
          <a:prstGeom prst="rect">
            <a:avLst/>
          </a:prstGeom>
          <a:solidFill>
            <a:srgbClr val="10B981"/>
          </a:solidFill>
          <a:ln/>
        </p:spPr>
      </p:sp>
      <p:sp>
        <p:nvSpPr>
          <p:cNvPr id="12" name="Text 10"/>
          <p:cNvSpPr/>
          <p:nvPr/>
        </p:nvSpPr>
        <p:spPr>
          <a:xfrm>
            <a:off x="548640" y="3931920"/>
            <a:ext cx="2606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20% của target</a:t>
            </a:r>
            <a:endParaRPr lang="en-US" sz="900" dirty="0"/>
          </a:p>
        </p:txBody>
      </p:sp>
      <p:sp>
        <p:nvSpPr>
          <p:cNvPr id="13" name="Shape 11"/>
          <p:cNvSpPr/>
          <p:nvPr/>
        </p:nvSpPr>
        <p:spPr>
          <a:xfrm>
            <a:off x="3337560" y="1920240"/>
            <a:ext cx="2606040" cy="228600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4" name="Text 12"/>
          <p:cNvSpPr/>
          <p:nvPr/>
        </p:nvSpPr>
        <p:spPr>
          <a:xfrm>
            <a:off x="3337560" y="2057400"/>
            <a:ext cx="2606040" cy="320040"/>
          </a:xfrm>
          <a:prstGeom prst="rect">
            <a:avLst/>
          </a:prstGeom>
          <a:noFill/>
          <a:ln/>
        </p:spPr>
        <p:txBody>
          <a:bodyPr wrap="square" lIns="0" tIns="0" rIns="0" bIns="0" rtlCol="0" anchor="ctr"/>
          <a:lstStyle/>
          <a:p>
            <a:pPr algn="ctr" indent="0" marL="0">
              <a:buNone/>
            </a:pPr>
            <a:r>
              <a:rPr lang="en-US" sz="1200" b="1" spc="400" kern="0" dirty="0">
                <a:solidFill>
                  <a:srgbClr val="0D9488"/>
                </a:solidFill>
                <a:latin typeface="Calibri" pitchFamily="34" charset="0"/>
                <a:ea typeface="Calibri" pitchFamily="34" charset="-122"/>
                <a:cs typeface="Calibri" pitchFamily="34" charset="-120"/>
              </a:rPr>
              <a:t>P95</a:t>
            </a:r>
            <a:endParaRPr lang="en-US" sz="1200" dirty="0"/>
          </a:p>
        </p:txBody>
      </p:sp>
      <p:sp>
        <p:nvSpPr>
          <p:cNvPr id="15" name="Text 13"/>
          <p:cNvSpPr/>
          <p:nvPr/>
        </p:nvSpPr>
        <p:spPr>
          <a:xfrm>
            <a:off x="3337560" y="2423160"/>
            <a:ext cx="2606040" cy="777240"/>
          </a:xfrm>
          <a:prstGeom prst="rect">
            <a:avLst/>
          </a:prstGeom>
          <a:noFill/>
          <a:ln/>
        </p:spPr>
        <p:txBody>
          <a:bodyPr wrap="square" lIns="0" tIns="0" rIns="0" bIns="0" rtlCol="0" anchor="ctr"/>
          <a:lstStyle/>
          <a:p>
            <a:pPr algn="ctr" indent="0" marL="0">
              <a:buNone/>
            </a:pPr>
            <a:r>
              <a:rPr lang="en-US" sz="4800" b="1" dirty="0">
                <a:solidFill>
                  <a:srgbClr val="0F172A"/>
                </a:solidFill>
                <a:latin typeface="Calibri" pitchFamily="34" charset="0"/>
                <a:ea typeface="Calibri" pitchFamily="34" charset="-122"/>
                <a:cs typeface="Calibri" pitchFamily="34" charset="-120"/>
              </a:rPr>
              <a:t>1,800</a:t>
            </a:r>
            <a:endParaRPr lang="en-US" sz="4800" dirty="0"/>
          </a:p>
        </p:txBody>
      </p:sp>
      <p:sp>
        <p:nvSpPr>
          <p:cNvPr id="16" name="Text 14"/>
          <p:cNvSpPr/>
          <p:nvPr/>
        </p:nvSpPr>
        <p:spPr>
          <a:xfrm>
            <a:off x="3337560" y="3246120"/>
            <a:ext cx="2606040" cy="32004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ms</a:t>
            </a:r>
            <a:endParaRPr lang="en-US" sz="1400" dirty="0"/>
          </a:p>
        </p:txBody>
      </p:sp>
      <p:sp>
        <p:nvSpPr>
          <p:cNvPr id="17" name="Shape 15"/>
          <p:cNvSpPr/>
          <p:nvPr/>
        </p:nvSpPr>
        <p:spPr>
          <a:xfrm>
            <a:off x="3611880" y="3703320"/>
            <a:ext cx="2057400" cy="137160"/>
          </a:xfrm>
          <a:prstGeom prst="rect">
            <a:avLst/>
          </a:prstGeom>
          <a:solidFill>
            <a:srgbClr val="E2E8F0"/>
          </a:solidFill>
          <a:ln/>
        </p:spPr>
      </p:sp>
      <p:sp>
        <p:nvSpPr>
          <p:cNvPr id="18" name="Shape 16"/>
          <p:cNvSpPr/>
          <p:nvPr/>
        </p:nvSpPr>
        <p:spPr>
          <a:xfrm>
            <a:off x="3611880" y="3703320"/>
            <a:ext cx="1131570" cy="137160"/>
          </a:xfrm>
          <a:prstGeom prst="rect">
            <a:avLst/>
          </a:prstGeom>
          <a:solidFill>
            <a:srgbClr val="0D9488"/>
          </a:solidFill>
          <a:ln/>
        </p:spPr>
      </p:sp>
      <p:sp>
        <p:nvSpPr>
          <p:cNvPr id="19" name="Text 17"/>
          <p:cNvSpPr/>
          <p:nvPr/>
        </p:nvSpPr>
        <p:spPr>
          <a:xfrm>
            <a:off x="3337560" y="3931920"/>
            <a:ext cx="2606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55% của target</a:t>
            </a:r>
            <a:endParaRPr lang="en-US" sz="900" dirty="0"/>
          </a:p>
        </p:txBody>
      </p:sp>
      <p:sp>
        <p:nvSpPr>
          <p:cNvPr id="20" name="Shape 18"/>
          <p:cNvSpPr/>
          <p:nvPr/>
        </p:nvSpPr>
        <p:spPr>
          <a:xfrm>
            <a:off x="6126480" y="1920240"/>
            <a:ext cx="2606040" cy="228600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21" name="Text 19"/>
          <p:cNvSpPr/>
          <p:nvPr/>
        </p:nvSpPr>
        <p:spPr>
          <a:xfrm>
            <a:off x="6126480" y="2057400"/>
            <a:ext cx="2606040" cy="320040"/>
          </a:xfrm>
          <a:prstGeom prst="rect">
            <a:avLst/>
          </a:prstGeom>
          <a:noFill/>
          <a:ln/>
        </p:spPr>
        <p:txBody>
          <a:bodyPr wrap="square" lIns="0" tIns="0" rIns="0" bIns="0" rtlCol="0" anchor="ctr"/>
          <a:lstStyle/>
          <a:p>
            <a:pPr algn="ctr" indent="0" marL="0">
              <a:buNone/>
            </a:pPr>
            <a:r>
              <a:rPr lang="en-US" sz="1200" b="1" spc="400" kern="0" dirty="0">
                <a:solidFill>
                  <a:srgbClr val="F59E0B"/>
                </a:solidFill>
                <a:latin typeface="Calibri" pitchFamily="34" charset="0"/>
                <a:ea typeface="Calibri" pitchFamily="34" charset="-122"/>
                <a:cs typeface="Calibri" pitchFamily="34" charset="-120"/>
              </a:rPr>
              <a:t>P99</a:t>
            </a:r>
            <a:endParaRPr lang="en-US" sz="1200" dirty="0"/>
          </a:p>
        </p:txBody>
      </p:sp>
      <p:sp>
        <p:nvSpPr>
          <p:cNvPr id="22" name="Text 20"/>
          <p:cNvSpPr/>
          <p:nvPr/>
        </p:nvSpPr>
        <p:spPr>
          <a:xfrm>
            <a:off x="6126480" y="2423160"/>
            <a:ext cx="2606040" cy="777240"/>
          </a:xfrm>
          <a:prstGeom prst="rect">
            <a:avLst/>
          </a:prstGeom>
          <a:noFill/>
          <a:ln/>
        </p:spPr>
        <p:txBody>
          <a:bodyPr wrap="square" lIns="0" tIns="0" rIns="0" bIns="0" rtlCol="0" anchor="ctr"/>
          <a:lstStyle/>
          <a:p>
            <a:pPr algn="ctr" indent="0" marL="0">
              <a:buNone/>
            </a:pPr>
            <a:r>
              <a:rPr lang="en-US" sz="4800" b="1" dirty="0">
                <a:solidFill>
                  <a:srgbClr val="0F172A"/>
                </a:solidFill>
                <a:latin typeface="Calibri" pitchFamily="34" charset="0"/>
                <a:ea typeface="Calibri" pitchFamily="34" charset="-122"/>
                <a:cs typeface="Calibri" pitchFamily="34" charset="-120"/>
              </a:rPr>
              <a:t>3,200</a:t>
            </a:r>
            <a:endParaRPr lang="en-US" sz="4800" dirty="0"/>
          </a:p>
        </p:txBody>
      </p:sp>
      <p:sp>
        <p:nvSpPr>
          <p:cNvPr id="23" name="Text 21"/>
          <p:cNvSpPr/>
          <p:nvPr/>
        </p:nvSpPr>
        <p:spPr>
          <a:xfrm>
            <a:off x="6126480" y="3246120"/>
            <a:ext cx="2606040" cy="32004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ms</a:t>
            </a:r>
            <a:endParaRPr lang="en-US" sz="1400" dirty="0"/>
          </a:p>
        </p:txBody>
      </p:sp>
      <p:sp>
        <p:nvSpPr>
          <p:cNvPr id="24" name="Shape 22"/>
          <p:cNvSpPr/>
          <p:nvPr/>
        </p:nvSpPr>
        <p:spPr>
          <a:xfrm>
            <a:off x="6400800" y="3703320"/>
            <a:ext cx="2057400" cy="137160"/>
          </a:xfrm>
          <a:prstGeom prst="rect">
            <a:avLst/>
          </a:prstGeom>
          <a:solidFill>
            <a:srgbClr val="E2E8F0"/>
          </a:solidFill>
          <a:ln/>
        </p:spPr>
      </p:sp>
      <p:sp>
        <p:nvSpPr>
          <p:cNvPr id="25" name="Shape 23"/>
          <p:cNvSpPr/>
          <p:nvPr/>
        </p:nvSpPr>
        <p:spPr>
          <a:xfrm>
            <a:off x="6400800" y="3703320"/>
            <a:ext cx="1645920" cy="137160"/>
          </a:xfrm>
          <a:prstGeom prst="rect">
            <a:avLst/>
          </a:prstGeom>
          <a:solidFill>
            <a:srgbClr val="F59E0B"/>
          </a:solidFill>
          <a:ln/>
        </p:spPr>
      </p:sp>
      <p:sp>
        <p:nvSpPr>
          <p:cNvPr id="26" name="Text 24"/>
          <p:cNvSpPr/>
          <p:nvPr/>
        </p:nvSpPr>
        <p:spPr>
          <a:xfrm>
            <a:off x="6126480" y="3931920"/>
            <a:ext cx="2606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80% của target</a:t>
            </a:r>
            <a:endParaRPr lang="en-US" sz="900" dirty="0"/>
          </a:p>
        </p:txBody>
      </p:sp>
      <p:sp>
        <p:nvSpPr>
          <p:cNvPr id="27" name="Shape 25"/>
          <p:cNvSpPr/>
          <p:nvPr/>
        </p:nvSpPr>
        <p:spPr>
          <a:xfrm>
            <a:off x="8915400" y="1920240"/>
            <a:ext cx="2606040" cy="228600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28" name="Text 26"/>
          <p:cNvSpPr/>
          <p:nvPr/>
        </p:nvSpPr>
        <p:spPr>
          <a:xfrm>
            <a:off x="8915400" y="2057400"/>
            <a:ext cx="2606040" cy="320040"/>
          </a:xfrm>
          <a:prstGeom prst="rect">
            <a:avLst/>
          </a:prstGeom>
          <a:noFill/>
          <a:ln/>
        </p:spPr>
        <p:txBody>
          <a:bodyPr wrap="square" lIns="0" tIns="0" rIns="0" bIns="0" rtlCol="0" anchor="ctr"/>
          <a:lstStyle/>
          <a:p>
            <a:pPr algn="ctr" indent="0" marL="0">
              <a:buNone/>
            </a:pPr>
            <a:r>
              <a:rPr lang="en-US" sz="1200" b="1" spc="400" kern="0" dirty="0">
                <a:solidFill>
                  <a:srgbClr val="E11D48"/>
                </a:solidFill>
                <a:latin typeface="Calibri" pitchFamily="34" charset="0"/>
                <a:ea typeface="Calibri" pitchFamily="34" charset="-122"/>
                <a:cs typeface="Calibri" pitchFamily="34" charset="-120"/>
              </a:rPr>
              <a:t>Max</a:t>
            </a:r>
            <a:endParaRPr lang="en-US" sz="1200" dirty="0"/>
          </a:p>
        </p:txBody>
      </p:sp>
      <p:sp>
        <p:nvSpPr>
          <p:cNvPr id="29" name="Text 27"/>
          <p:cNvSpPr/>
          <p:nvPr/>
        </p:nvSpPr>
        <p:spPr>
          <a:xfrm>
            <a:off x="8915400" y="2423160"/>
            <a:ext cx="2606040" cy="777240"/>
          </a:xfrm>
          <a:prstGeom prst="rect">
            <a:avLst/>
          </a:prstGeom>
          <a:noFill/>
          <a:ln/>
        </p:spPr>
        <p:txBody>
          <a:bodyPr wrap="square" lIns="0" tIns="0" rIns="0" bIns="0" rtlCol="0" anchor="ctr"/>
          <a:lstStyle/>
          <a:p>
            <a:pPr algn="ctr" indent="0" marL="0">
              <a:buNone/>
            </a:pPr>
            <a:r>
              <a:rPr lang="en-US" sz="4800" b="1" dirty="0">
                <a:solidFill>
                  <a:srgbClr val="0F172A"/>
                </a:solidFill>
                <a:latin typeface="Calibri" pitchFamily="34" charset="0"/>
                <a:ea typeface="Calibri" pitchFamily="34" charset="-122"/>
                <a:cs typeface="Calibri" pitchFamily="34" charset="-120"/>
              </a:rPr>
              <a:t>4,650</a:t>
            </a:r>
            <a:endParaRPr lang="en-US" sz="4800" dirty="0"/>
          </a:p>
        </p:txBody>
      </p:sp>
      <p:sp>
        <p:nvSpPr>
          <p:cNvPr id="30" name="Text 28"/>
          <p:cNvSpPr/>
          <p:nvPr/>
        </p:nvSpPr>
        <p:spPr>
          <a:xfrm>
            <a:off x="8915400" y="3246120"/>
            <a:ext cx="2606040" cy="320040"/>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ms</a:t>
            </a:r>
            <a:endParaRPr lang="en-US" sz="1400" dirty="0"/>
          </a:p>
        </p:txBody>
      </p:sp>
      <p:sp>
        <p:nvSpPr>
          <p:cNvPr id="31" name="Shape 29"/>
          <p:cNvSpPr/>
          <p:nvPr/>
        </p:nvSpPr>
        <p:spPr>
          <a:xfrm>
            <a:off x="9189720" y="3703320"/>
            <a:ext cx="2057400" cy="137160"/>
          </a:xfrm>
          <a:prstGeom prst="rect">
            <a:avLst/>
          </a:prstGeom>
          <a:solidFill>
            <a:srgbClr val="E2E8F0"/>
          </a:solidFill>
          <a:ln/>
        </p:spPr>
      </p:sp>
      <p:sp>
        <p:nvSpPr>
          <p:cNvPr id="32" name="Shape 30"/>
          <p:cNvSpPr/>
          <p:nvPr/>
        </p:nvSpPr>
        <p:spPr>
          <a:xfrm>
            <a:off x="9189720" y="3703320"/>
            <a:ext cx="1954530" cy="137160"/>
          </a:xfrm>
          <a:prstGeom prst="rect">
            <a:avLst/>
          </a:prstGeom>
          <a:solidFill>
            <a:srgbClr val="E11D48"/>
          </a:solidFill>
          <a:ln/>
        </p:spPr>
      </p:sp>
      <p:sp>
        <p:nvSpPr>
          <p:cNvPr id="33" name="Text 31"/>
          <p:cNvSpPr/>
          <p:nvPr/>
        </p:nvSpPr>
        <p:spPr>
          <a:xfrm>
            <a:off x="8915400" y="3931920"/>
            <a:ext cx="2606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95% của target</a:t>
            </a:r>
            <a:endParaRPr lang="en-US" sz="900" dirty="0"/>
          </a:p>
        </p:txBody>
      </p:sp>
      <p:sp>
        <p:nvSpPr>
          <p:cNvPr id="34" name="Shape 32"/>
          <p:cNvSpPr/>
          <p:nvPr/>
        </p:nvSpPr>
        <p:spPr>
          <a:xfrm>
            <a:off x="548640" y="4572000"/>
            <a:ext cx="11091672" cy="1645920"/>
          </a:xfrm>
          <a:prstGeom prst="rect">
            <a:avLst/>
          </a:prstGeom>
          <a:solidFill>
            <a:srgbClr val="ECFDF5"/>
          </a:solidFill>
          <a:ln/>
        </p:spPr>
      </p:sp>
      <p:sp>
        <p:nvSpPr>
          <p:cNvPr id="35" name="Shape 33"/>
          <p:cNvSpPr/>
          <p:nvPr/>
        </p:nvSpPr>
        <p:spPr>
          <a:xfrm>
            <a:off x="548640" y="4572000"/>
            <a:ext cx="91440" cy="1645920"/>
          </a:xfrm>
          <a:prstGeom prst="rect">
            <a:avLst/>
          </a:prstGeom>
          <a:solidFill>
            <a:srgbClr val="10B981"/>
          </a:solidFill>
          <a:ln/>
        </p:spPr>
      </p:sp>
      <p:sp>
        <p:nvSpPr>
          <p:cNvPr id="36" name="Text 34"/>
          <p:cNvSpPr/>
          <p:nvPr/>
        </p:nvSpPr>
        <p:spPr>
          <a:xfrm>
            <a:off x="822960" y="4709160"/>
            <a:ext cx="10698480" cy="411480"/>
          </a:xfrm>
          <a:prstGeom prst="rect">
            <a:avLst/>
          </a:prstGeom>
          <a:noFill/>
          <a:ln/>
        </p:spPr>
        <p:txBody>
          <a:bodyPr wrap="square" lIns="0" tIns="0" rIns="0" bIns="0" rtlCol="0" anchor="ctr"/>
          <a:lstStyle/>
          <a:p>
            <a:pPr indent="0" marL="0">
              <a:buNone/>
            </a:pPr>
            <a:r>
              <a:rPr lang="en-US" sz="1800" b="1" dirty="0">
                <a:solidFill>
                  <a:srgbClr val="065F46"/>
                </a:solidFill>
                <a:latin typeface="Calibri" pitchFamily="34" charset="0"/>
                <a:ea typeface="Calibri" pitchFamily="34" charset="-122"/>
                <a:cs typeface="Calibri" pitchFamily="34" charset="-120"/>
              </a:rPr>
              <a:t>✓  Đạt mục tiêu M1</a:t>
            </a:r>
            <a:endParaRPr lang="en-US" sz="1800" dirty="0"/>
          </a:p>
        </p:txBody>
      </p:sp>
      <p:sp>
        <p:nvSpPr>
          <p:cNvPr id="37" name="Text 35"/>
          <p:cNvSpPr/>
          <p:nvPr/>
        </p:nvSpPr>
        <p:spPr>
          <a:xfrm>
            <a:off x="822960" y="5166360"/>
            <a:ext cx="10698480"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Target ban đầu: P95 &lt; 5,000ms. Thực tế đạt P95 = 1,800ms — vượt mục tiêu 2.7x.</a:t>
            </a:r>
            <a:endParaRPr lang="en-US" sz="1400" dirty="0"/>
          </a:p>
        </p:txBody>
      </p:sp>
      <p:sp>
        <p:nvSpPr>
          <p:cNvPr id="38" name="Text 36"/>
          <p:cNvSpPr/>
          <p:nvPr/>
        </p:nvSpPr>
        <p:spPr>
          <a:xfrm>
            <a:off x="822960" y="5577840"/>
            <a:ext cx="10698480" cy="64008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Phương pháp đo: INSERT Postgres với description='latency-test-' || extract(epoch from now()); poll ClickHouse mỗi 50ms cho đến khi thấy row; tính khoảng cách.</a:t>
            </a:r>
            <a:endParaRPr lang="en-US" sz="1100" dirty="0"/>
          </a:p>
        </p:txBody>
      </p:sp>
      <p:sp>
        <p:nvSpPr>
          <p:cNvPr id="39" name="Shape 37"/>
          <p:cNvSpPr/>
          <p:nvPr/>
        </p:nvSpPr>
        <p:spPr>
          <a:xfrm>
            <a:off x="457200" y="6537960"/>
            <a:ext cx="11274552" cy="4572"/>
          </a:xfrm>
          <a:prstGeom prst="rect">
            <a:avLst/>
          </a:prstGeom>
          <a:solidFill>
            <a:srgbClr val="E2E8F0"/>
          </a:solidFill>
          <a:ln/>
        </p:spPr>
      </p:sp>
      <p:sp>
        <p:nvSpPr>
          <p:cNvPr id="40" name="Text 38"/>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41" name="Text 39"/>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04 · Kết quả</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Throughput — TPS có thể chịu</a:t>
            </a:r>
            <a:endParaRPr lang="en-US" sz="3000" dirty="0"/>
          </a:p>
        </p:txBody>
      </p:sp>
      <p:graphicFrame>
        <p:nvGraphicFramePr>
          <p:cNvPr id="5" name="Chart 0" descr=""/>
          <p:cNvGraphicFramePr/>
          <p:nvPr/>
        </p:nvGraphicFramePr>
        <p:xfrm>
          <a:off x="548640" y="1737360"/>
          <a:ext cx="6858000" cy="4389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737360"/>
            <a:ext cx="4069080" cy="1371600"/>
          </a:xfrm>
          <a:prstGeom prst="rect">
            <a:avLst/>
          </a:prstGeom>
          <a:solidFill>
            <a:srgbClr val="FFFFFF"/>
          </a:solidFill>
          <a:ln w="12700">
            <a:solidFill>
              <a:srgbClr val="E2E8F0"/>
            </a:solidFill>
            <a:prstDash val="solid"/>
          </a:ln>
        </p:spPr>
      </p:sp>
      <p:sp>
        <p:nvSpPr>
          <p:cNvPr id="7" name="Shape 4"/>
          <p:cNvSpPr/>
          <p:nvPr/>
        </p:nvSpPr>
        <p:spPr>
          <a:xfrm>
            <a:off x="7589520" y="1737360"/>
            <a:ext cx="91440" cy="1371600"/>
          </a:xfrm>
          <a:prstGeom prst="rect">
            <a:avLst/>
          </a:prstGeom>
          <a:solidFill>
            <a:srgbClr val="10B981"/>
          </a:solidFill>
          <a:ln/>
        </p:spPr>
      </p:sp>
      <p:sp>
        <p:nvSpPr>
          <p:cNvPr id="8" name="Text 5"/>
          <p:cNvSpPr/>
          <p:nvPr/>
        </p:nvSpPr>
        <p:spPr>
          <a:xfrm>
            <a:off x="7772400" y="1828800"/>
            <a:ext cx="3749040" cy="274320"/>
          </a:xfrm>
          <a:prstGeom prst="rect">
            <a:avLst/>
          </a:prstGeom>
          <a:noFill/>
          <a:ln/>
        </p:spPr>
        <p:txBody>
          <a:bodyPr wrap="square" lIns="0" tIns="0" rIns="0" bIns="0" rtlCol="0" anchor="ctr"/>
          <a:lstStyle/>
          <a:p>
            <a:pPr indent="0" marL="0">
              <a:buNone/>
            </a:pPr>
            <a:r>
              <a:rPr lang="en-US" sz="1000" b="1" spc="400" kern="0" dirty="0">
                <a:solidFill>
                  <a:srgbClr val="10B981"/>
                </a:solidFill>
                <a:latin typeface="Calibri" pitchFamily="34" charset="0"/>
                <a:ea typeface="Calibri" pitchFamily="34" charset="-122"/>
                <a:cs typeface="Calibri" pitchFamily="34" charset="-120"/>
              </a:rPr>
              <a:t>Sweet spot</a:t>
            </a:r>
            <a:endParaRPr lang="en-US" sz="1000" dirty="0"/>
          </a:p>
        </p:txBody>
      </p:sp>
      <p:sp>
        <p:nvSpPr>
          <p:cNvPr id="9" name="Text 6"/>
          <p:cNvSpPr/>
          <p:nvPr/>
        </p:nvSpPr>
        <p:spPr>
          <a:xfrm>
            <a:off x="7772400" y="2103120"/>
            <a:ext cx="3749040" cy="45720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700 TPS</a:t>
            </a:r>
            <a:endParaRPr lang="en-US" sz="2600" dirty="0"/>
          </a:p>
        </p:txBody>
      </p:sp>
      <p:sp>
        <p:nvSpPr>
          <p:cNvPr id="10" name="Text 7"/>
          <p:cNvSpPr/>
          <p:nvPr/>
        </p:nvSpPr>
        <p:spPr>
          <a:xfrm>
            <a:off x="7772400" y="2606040"/>
            <a:ext cx="374904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Lag &lt;2s, đủ cho ngân hàng cỡ vừa</a:t>
            </a:r>
            <a:endParaRPr lang="en-US" sz="1100" dirty="0"/>
          </a:p>
        </p:txBody>
      </p:sp>
      <p:sp>
        <p:nvSpPr>
          <p:cNvPr id="11" name="Shape 8"/>
          <p:cNvSpPr/>
          <p:nvPr/>
        </p:nvSpPr>
        <p:spPr>
          <a:xfrm>
            <a:off x="7589520" y="3246120"/>
            <a:ext cx="4069080" cy="1371600"/>
          </a:xfrm>
          <a:prstGeom prst="rect">
            <a:avLst/>
          </a:prstGeom>
          <a:solidFill>
            <a:srgbClr val="FFFFFF"/>
          </a:solidFill>
          <a:ln w="12700">
            <a:solidFill>
              <a:srgbClr val="E2E8F0"/>
            </a:solidFill>
            <a:prstDash val="solid"/>
          </a:ln>
        </p:spPr>
      </p:sp>
      <p:sp>
        <p:nvSpPr>
          <p:cNvPr id="12" name="Shape 9"/>
          <p:cNvSpPr/>
          <p:nvPr/>
        </p:nvSpPr>
        <p:spPr>
          <a:xfrm>
            <a:off x="7589520" y="3246120"/>
            <a:ext cx="91440" cy="1371600"/>
          </a:xfrm>
          <a:prstGeom prst="rect">
            <a:avLst/>
          </a:prstGeom>
          <a:solidFill>
            <a:srgbClr val="0D9488"/>
          </a:solidFill>
          <a:ln/>
        </p:spPr>
      </p:sp>
      <p:sp>
        <p:nvSpPr>
          <p:cNvPr id="13" name="Text 10"/>
          <p:cNvSpPr/>
          <p:nvPr/>
        </p:nvSpPr>
        <p:spPr>
          <a:xfrm>
            <a:off x="7772400" y="3337560"/>
            <a:ext cx="374904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Throughput peak</a:t>
            </a:r>
            <a:endParaRPr lang="en-US" sz="1000" dirty="0"/>
          </a:p>
        </p:txBody>
      </p:sp>
      <p:sp>
        <p:nvSpPr>
          <p:cNvPr id="14" name="Text 11"/>
          <p:cNvSpPr/>
          <p:nvPr/>
        </p:nvSpPr>
        <p:spPr>
          <a:xfrm>
            <a:off x="7772400" y="3611880"/>
            <a:ext cx="3749040" cy="45720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950 TPS</a:t>
            </a:r>
            <a:endParaRPr lang="en-US" sz="2600" dirty="0"/>
          </a:p>
        </p:txBody>
      </p:sp>
      <p:sp>
        <p:nvSpPr>
          <p:cNvPr id="15" name="Text 12"/>
          <p:cNvSpPr/>
          <p:nvPr/>
        </p:nvSpPr>
        <p:spPr>
          <a:xfrm>
            <a:off x="7772400" y="4114800"/>
            <a:ext cx="374904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Ổn định không lỗi, lag P95 ~3s</a:t>
            </a:r>
            <a:endParaRPr lang="en-US" sz="1100" dirty="0"/>
          </a:p>
        </p:txBody>
      </p:sp>
      <p:sp>
        <p:nvSpPr>
          <p:cNvPr id="16" name="Shape 13"/>
          <p:cNvSpPr/>
          <p:nvPr/>
        </p:nvSpPr>
        <p:spPr>
          <a:xfrm>
            <a:off x="7589520" y="4754880"/>
            <a:ext cx="4069080" cy="1371600"/>
          </a:xfrm>
          <a:prstGeom prst="rect">
            <a:avLst/>
          </a:prstGeom>
          <a:solidFill>
            <a:srgbClr val="FFFFFF"/>
          </a:solidFill>
          <a:ln w="12700">
            <a:solidFill>
              <a:srgbClr val="E2E8F0"/>
            </a:solidFill>
            <a:prstDash val="solid"/>
          </a:ln>
        </p:spPr>
      </p:sp>
      <p:sp>
        <p:nvSpPr>
          <p:cNvPr id="17" name="Shape 14"/>
          <p:cNvSpPr/>
          <p:nvPr/>
        </p:nvSpPr>
        <p:spPr>
          <a:xfrm>
            <a:off x="7589520" y="4754880"/>
            <a:ext cx="91440" cy="1371600"/>
          </a:xfrm>
          <a:prstGeom prst="rect">
            <a:avLst/>
          </a:prstGeom>
          <a:solidFill>
            <a:srgbClr val="F59E0B"/>
          </a:solidFill>
          <a:ln/>
        </p:spPr>
      </p:sp>
      <p:sp>
        <p:nvSpPr>
          <p:cNvPr id="18" name="Text 15"/>
          <p:cNvSpPr/>
          <p:nvPr/>
        </p:nvSpPr>
        <p:spPr>
          <a:xfrm>
            <a:off x="7772400" y="4846320"/>
            <a:ext cx="3749040" cy="274320"/>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Bottleneck @ 1100</a:t>
            </a:r>
            <a:endParaRPr lang="en-US" sz="1000" dirty="0"/>
          </a:p>
        </p:txBody>
      </p:sp>
      <p:sp>
        <p:nvSpPr>
          <p:cNvPr id="19" name="Text 16"/>
          <p:cNvSpPr/>
          <p:nvPr/>
        </p:nvSpPr>
        <p:spPr>
          <a:xfrm>
            <a:off x="7772400" y="5120640"/>
            <a:ext cx="3749040" cy="45720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&gt;8s lag</a:t>
            </a:r>
            <a:endParaRPr lang="en-US" sz="2600" dirty="0"/>
          </a:p>
        </p:txBody>
      </p:sp>
      <p:sp>
        <p:nvSpPr>
          <p:cNvPr id="20" name="Text 17"/>
          <p:cNvSpPr/>
          <p:nvPr/>
        </p:nvSpPr>
        <p:spPr>
          <a:xfrm>
            <a:off x="7772400" y="5623560"/>
            <a:ext cx="374904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Postgres CPU saturated, không scale ngang</a:t>
            </a:r>
            <a:endParaRPr lang="en-US" sz="1100" dirty="0"/>
          </a:p>
        </p:txBody>
      </p:sp>
      <p:sp>
        <p:nvSpPr>
          <p:cNvPr id="21" name="Text 18"/>
          <p:cNvSpPr/>
          <p:nvPr/>
        </p:nvSpPr>
        <p:spPr>
          <a:xfrm>
            <a:off x="548640" y="6217920"/>
            <a:ext cx="109728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Test bench: máy local, 16GB RAM, 8 core CPU, SSD NVMe, Docker Compose single-node</a:t>
            </a:r>
            <a:endParaRPr lang="en-US" sz="1000" dirty="0"/>
          </a:p>
        </p:txBody>
      </p:sp>
      <p:sp>
        <p:nvSpPr>
          <p:cNvPr id="22" name="Shape 19"/>
          <p:cNvSpPr/>
          <p:nvPr/>
        </p:nvSpPr>
        <p:spPr>
          <a:xfrm>
            <a:off x="457200" y="6537960"/>
            <a:ext cx="11274552" cy="4572"/>
          </a:xfrm>
          <a:prstGeom prst="rect">
            <a:avLst/>
          </a:prstGeom>
          <a:solidFill>
            <a:srgbClr val="E2E8F0"/>
          </a:solidFill>
          <a:ln/>
        </p:spPr>
      </p:sp>
      <p:sp>
        <p:nvSpPr>
          <p:cNvPr id="23" name="Text 20"/>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4" name="Text 21"/>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04 · Kết quả</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Anomaly Detection — Precision / Recall / F1</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Test dataset: 5,000 TX normal + 50 TX fraud có label (metadata.fraud_type)</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011680"/>
                <a:gridCol w="1280160"/>
                <a:gridCol w="1280160"/>
                <a:gridCol w="1280160"/>
                <a:gridCol w="1554480"/>
                <a:gridCol w="1554480"/>
                <a:gridCol w="1554480"/>
              </a:tblGrid>
              <a:tr h="457200">
                <a:tc>
                  <a:txBody>
                    <a:bodyPr/>
                    <a:lstStyle/>
                    <a:p>
                      <a:pPr algn="l" indent="0" marL="0">
                        <a:buNone/>
                      </a:pPr>
                      <a:r>
                        <a:rPr lang="en-US" sz="1300" b="1" dirty="0">
                          <a:solidFill>
                            <a:srgbClr val="F8FAFC"/>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8FAFC"/>
                          </a:solidFill>
                          <a:latin typeface="Calibri" pitchFamily="34" charset="0"/>
                          <a:ea typeface="Calibri" pitchFamily="34" charset="-122"/>
                          <a:cs typeface="Calibri" pitchFamily="34" charset="-120"/>
                        </a:rPr>
                        <a:t>TP</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8FAFC"/>
                          </a:solidFill>
                          <a:latin typeface="Calibri" pitchFamily="34" charset="0"/>
                          <a:ea typeface="Calibri" pitchFamily="34" charset="-122"/>
                          <a:cs typeface="Calibri" pitchFamily="34" charset="-120"/>
                        </a:rPr>
                        <a:t>FP</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8FAFC"/>
                          </a:solidFill>
                          <a:latin typeface="Calibri" pitchFamily="34" charset="0"/>
                          <a:ea typeface="Calibri" pitchFamily="34" charset="-122"/>
                          <a:cs typeface="Calibri" pitchFamily="34" charset="-120"/>
                        </a:rPr>
                        <a:t>FN</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8FAFC"/>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8FAFC"/>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c>
                  <a:txBody>
                    <a:bodyPr/>
                    <a:lstStyle/>
                    <a:p>
                      <a:pPr algn="ctr" indent="0" marL="0">
                        <a:buNone/>
                      </a:pPr>
                      <a:r>
                        <a:rPr lang="en-US" sz="1300" b="1" dirty="0">
                          <a:solidFill>
                            <a:srgbClr val="F8FAF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B3D"/>
                    </a:solidFill>
                  </a:tcPr>
                </a:tc>
              </a:tr>
              <a:tr h="457200">
                <a:tc>
                  <a:txBody>
                    <a:bodyPr/>
                    <a:lstStyle/>
                    <a:p>
                      <a:pPr algn="l" indent="0" marL="0">
                        <a:buNone/>
                      </a:pPr>
                      <a:r>
                        <a:rPr lang="en-US" sz="1400" b="1" dirty="0">
                          <a:solidFill>
                            <a:srgbClr val="0F172A"/>
                          </a:solidFill>
                          <a:latin typeface="Calibri" pitchFamily="34" charset="0"/>
                          <a:ea typeface="Calibri" pitchFamily="34" charset="-122"/>
                          <a:cs typeface="Calibri" pitchFamily="34" charset="-120"/>
                        </a:rPr>
                        <a:t>Velocity</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0B981"/>
                          </a:solidFill>
                          <a:latin typeface="Calibri" pitchFamily="34" charset="0"/>
                          <a:ea typeface="Calibri" pitchFamily="34" charset="-122"/>
                          <a:cs typeface="Calibri" pitchFamily="34" charset="-120"/>
                        </a:rPr>
                        <a:t>0.88</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0B981"/>
                          </a:solidFill>
                          <a:latin typeface="Calibri" pitchFamily="34" charset="0"/>
                          <a:ea typeface="Calibri" pitchFamily="34" charset="-122"/>
                          <a:cs typeface="Calibri" pitchFamily="34" charset="-120"/>
                        </a:rPr>
                        <a:t>0.92</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0B981"/>
                          </a:solidFill>
                          <a:latin typeface="Calibri" pitchFamily="34" charset="0"/>
                          <a:ea typeface="Calibri" pitchFamily="34" charset="-122"/>
                          <a:cs typeface="Calibri" pitchFamily="34" charset="-120"/>
                        </a:rPr>
                        <a:t>0.90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F172A"/>
                          </a:solidFill>
                          <a:latin typeface="Calibri" pitchFamily="34" charset="0"/>
                          <a:ea typeface="Calibri" pitchFamily="34" charset="-122"/>
                          <a:cs typeface="Calibri" pitchFamily="34" charset="-120"/>
                        </a:rPr>
                        <a:t>Large amount</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0B98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F59E0B"/>
                          </a:solidFill>
                          <a:latin typeface="Calibri" pitchFamily="34" charset="0"/>
                          <a:ea typeface="Calibri" pitchFamily="34" charset="-122"/>
                          <a:cs typeface="Calibri" pitchFamily="34" charset="-120"/>
                        </a:rPr>
                        <a:t>0.60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0D9488"/>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57200">
                <a:tc>
                  <a:txBody>
                    <a:bodyPr/>
                    <a:lstStyle/>
                    <a:p>
                      <a:pPr algn="l" indent="0" marL="0">
                        <a:buNone/>
                      </a:pPr>
                      <a:r>
                        <a:rPr lang="en-US" sz="1400" b="1" dirty="0">
                          <a:solidFill>
                            <a:srgbClr val="0F172A"/>
                          </a:solidFill>
                          <a:latin typeface="Calibri" pitchFamily="34" charset="0"/>
                          <a:ea typeface="Calibri" pitchFamily="34" charset="-122"/>
                          <a:cs typeface="Calibri" pitchFamily="34" charset="-120"/>
                        </a:rPr>
                        <a:t>Z-score</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9488"/>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9488"/>
                          </a:solidFill>
                          <a:latin typeface="Calibri" pitchFamily="34" charset="0"/>
                          <a:ea typeface="Calibri" pitchFamily="34" charset="-122"/>
                          <a:cs typeface="Calibri" pitchFamily="34" charset="-120"/>
                        </a:rPr>
                        <a:t>0.80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D9488"/>
                          </a:solidFill>
                          <a:latin typeface="Calibri" pitchFamily="34" charset="0"/>
                          <a:ea typeface="Calibri" pitchFamily="34" charset="-122"/>
                          <a:cs typeface="Calibri" pitchFamily="34" charset="-120"/>
                        </a:rPr>
                        <a:t>0.77</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F172A"/>
                          </a:solidFill>
                          <a:latin typeface="Calibri" pitchFamily="34" charset="0"/>
                          <a:ea typeface="Calibri" pitchFamily="34" charset="-122"/>
                          <a:cs typeface="Calibri" pitchFamily="34" charset="-120"/>
                        </a:rPr>
                        <a:t>Multi-currency</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17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0D9488"/>
                          </a:solidFill>
                          <a:latin typeface="Calibri" pitchFamily="34" charset="0"/>
                          <a:ea typeface="Calibri" pitchFamily="34" charset="-122"/>
                          <a:cs typeface="Calibri" pitchFamily="34" charset="-120"/>
                        </a:rPr>
                        <a:t>0.83</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0B98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0B981"/>
                          </a:solidFill>
                          <a:latin typeface="Calibri" pitchFamily="34" charset="0"/>
                          <a:ea typeface="Calibri" pitchFamily="34" charset="-122"/>
                          <a:cs typeface="Calibri" pitchFamily="34" charset="-120"/>
                        </a:rPr>
                        <a:t>0.91</a:t>
                      </a:r>
                      <a:endParaRPr lang="en-US" sz="14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bl>
          </a:graphicData>
        </a:graphic>
      </p:graphicFrame>
      <p:sp>
        <p:nvSpPr>
          <p:cNvPr id="7" name="Shape 4"/>
          <p:cNvSpPr/>
          <p:nvPr/>
        </p:nvSpPr>
        <p:spPr>
          <a:xfrm>
            <a:off x="548640" y="4526280"/>
            <a:ext cx="3520440" cy="1783080"/>
          </a:xfrm>
          <a:prstGeom prst="rect">
            <a:avLst/>
          </a:prstGeom>
          <a:solidFill>
            <a:srgbClr val="FFFFFF"/>
          </a:solidFill>
          <a:ln w="12700">
            <a:solidFill>
              <a:srgbClr val="E2E8F0"/>
            </a:solidFill>
            <a:prstDash val="solid"/>
          </a:ln>
        </p:spPr>
      </p:sp>
      <p:sp>
        <p:nvSpPr>
          <p:cNvPr id="8" name="Shape 5"/>
          <p:cNvSpPr/>
          <p:nvPr/>
        </p:nvSpPr>
        <p:spPr>
          <a:xfrm>
            <a:off x="548640" y="4526280"/>
            <a:ext cx="91440" cy="1783080"/>
          </a:xfrm>
          <a:prstGeom prst="rect">
            <a:avLst/>
          </a:prstGeom>
          <a:solidFill>
            <a:srgbClr val="10B981"/>
          </a:solidFill>
          <a:ln/>
        </p:spPr>
      </p:sp>
      <p:sp>
        <p:nvSpPr>
          <p:cNvPr id="9" name="Text 6"/>
          <p:cNvSpPr/>
          <p:nvPr/>
        </p:nvSpPr>
        <p:spPr>
          <a:xfrm>
            <a:off x="777240" y="4709160"/>
            <a:ext cx="3200400" cy="5943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Velocity là rule mạnh nhất</a:t>
            </a:r>
            <a:endParaRPr lang="en-US" sz="1400" dirty="0"/>
          </a:p>
        </p:txBody>
      </p:sp>
      <p:sp>
        <p:nvSpPr>
          <p:cNvPr id="10" name="Text 7"/>
          <p:cNvSpPr/>
          <p:nvPr/>
        </p:nvSpPr>
        <p:spPr>
          <a:xfrm>
            <a:off x="777240" y="5349240"/>
            <a:ext cx="3200400" cy="8686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F1=0.90. Bắt 23/25 case fraud thật, chỉ false positive 3 case.</a:t>
            </a:r>
            <a:endParaRPr lang="en-US" sz="1100" dirty="0"/>
          </a:p>
        </p:txBody>
      </p:sp>
      <p:sp>
        <p:nvSpPr>
          <p:cNvPr id="11" name="Shape 8"/>
          <p:cNvSpPr/>
          <p:nvPr/>
        </p:nvSpPr>
        <p:spPr>
          <a:xfrm>
            <a:off x="4251960" y="4526280"/>
            <a:ext cx="3520440" cy="1783080"/>
          </a:xfrm>
          <a:prstGeom prst="rect">
            <a:avLst/>
          </a:prstGeom>
          <a:solidFill>
            <a:srgbClr val="FFFFFF"/>
          </a:solidFill>
          <a:ln w="12700">
            <a:solidFill>
              <a:srgbClr val="E2E8F0"/>
            </a:solidFill>
            <a:prstDash val="solid"/>
          </a:ln>
        </p:spPr>
      </p:sp>
      <p:sp>
        <p:nvSpPr>
          <p:cNvPr id="12" name="Shape 9"/>
          <p:cNvSpPr/>
          <p:nvPr/>
        </p:nvSpPr>
        <p:spPr>
          <a:xfrm>
            <a:off x="4251960" y="4526280"/>
            <a:ext cx="91440" cy="1783080"/>
          </a:xfrm>
          <a:prstGeom prst="rect">
            <a:avLst/>
          </a:prstGeom>
          <a:solidFill>
            <a:srgbClr val="F59E0B"/>
          </a:solidFill>
          <a:ln/>
        </p:spPr>
      </p:sp>
      <p:sp>
        <p:nvSpPr>
          <p:cNvPr id="13" name="Text 10"/>
          <p:cNvSpPr/>
          <p:nvPr/>
        </p:nvSpPr>
        <p:spPr>
          <a:xfrm>
            <a:off x="4480560" y="4709160"/>
            <a:ext cx="3200400" cy="5943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Threshold cứng có recall thấp</a:t>
            </a:r>
            <a:endParaRPr lang="en-US" sz="1400" dirty="0"/>
          </a:p>
        </p:txBody>
      </p:sp>
      <p:sp>
        <p:nvSpPr>
          <p:cNvPr id="14" name="Text 11"/>
          <p:cNvSpPr/>
          <p:nvPr/>
        </p:nvSpPr>
        <p:spPr>
          <a:xfrm>
            <a:off x="4480560" y="5349240"/>
            <a:ext cx="3200400" cy="8686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Large amount sót 6/15 case — vì kẻ gian chia nhỏ giao dịch dưới ngưỡng.</a:t>
            </a:r>
            <a:endParaRPr lang="en-US" sz="1100" dirty="0"/>
          </a:p>
        </p:txBody>
      </p:sp>
      <p:sp>
        <p:nvSpPr>
          <p:cNvPr id="15" name="Shape 12"/>
          <p:cNvSpPr/>
          <p:nvPr/>
        </p:nvSpPr>
        <p:spPr>
          <a:xfrm>
            <a:off x="7955280" y="4526280"/>
            <a:ext cx="3520440" cy="1783080"/>
          </a:xfrm>
          <a:prstGeom prst="rect">
            <a:avLst/>
          </a:prstGeom>
          <a:solidFill>
            <a:srgbClr val="FFFFFF"/>
          </a:solidFill>
          <a:ln w="12700">
            <a:solidFill>
              <a:srgbClr val="E2E8F0"/>
            </a:solidFill>
            <a:prstDash val="solid"/>
          </a:ln>
        </p:spPr>
      </p:sp>
      <p:sp>
        <p:nvSpPr>
          <p:cNvPr id="16" name="Shape 13"/>
          <p:cNvSpPr/>
          <p:nvPr/>
        </p:nvSpPr>
        <p:spPr>
          <a:xfrm>
            <a:off x="7955280" y="4526280"/>
            <a:ext cx="91440" cy="1783080"/>
          </a:xfrm>
          <a:prstGeom prst="rect">
            <a:avLst/>
          </a:prstGeom>
          <a:solidFill>
            <a:srgbClr val="1E40AF"/>
          </a:solidFill>
          <a:ln/>
        </p:spPr>
      </p:sp>
      <p:sp>
        <p:nvSpPr>
          <p:cNvPr id="17" name="Text 14"/>
          <p:cNvSpPr/>
          <p:nvPr/>
        </p:nvSpPr>
        <p:spPr>
          <a:xfrm>
            <a:off x="8183880" y="4709160"/>
            <a:ext cx="3200400" cy="5943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Combo rule recall tổng = 96%</a:t>
            </a:r>
            <a:endParaRPr lang="en-US" sz="1400" dirty="0"/>
          </a:p>
        </p:txBody>
      </p:sp>
      <p:sp>
        <p:nvSpPr>
          <p:cNvPr id="18" name="Text 15"/>
          <p:cNvSpPr/>
          <p:nvPr/>
        </p:nvSpPr>
        <p:spPr>
          <a:xfrm>
            <a:off x="8183880" y="5349240"/>
            <a:ext cx="3200400" cy="8686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Bắt 48/50 fraud thực. 2 case sót do amount nhỏ + đơn lẻ.</a:t>
            </a:r>
            <a:endParaRPr lang="en-US" sz="1100" dirty="0"/>
          </a:p>
        </p:txBody>
      </p:sp>
      <p:sp>
        <p:nvSpPr>
          <p:cNvPr id="19" name="Shape 16"/>
          <p:cNvSpPr/>
          <p:nvPr/>
        </p:nvSpPr>
        <p:spPr>
          <a:xfrm>
            <a:off x="457200" y="6537960"/>
            <a:ext cx="11274552" cy="4572"/>
          </a:xfrm>
          <a:prstGeom prst="rect">
            <a:avLst/>
          </a:prstGeom>
          <a:solidFill>
            <a:srgbClr val="E2E8F0"/>
          </a:solidFill>
          <a:ln/>
        </p:spPr>
      </p:sp>
      <p:sp>
        <p:nvSpPr>
          <p:cNvPr id="20" name="Text 17"/>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1" name="Text 18"/>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05 · Trade-offs</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Hạn chế của FinWatch</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Hiểu rõ giới hạn = hiểu sâu hệ thống</a:t>
            </a:r>
            <a:endParaRPr lang="en-US" sz="1300" dirty="0"/>
          </a:p>
        </p:txBody>
      </p:sp>
      <p:sp>
        <p:nvSpPr>
          <p:cNvPr id="6" name="Shape 4"/>
          <p:cNvSpPr/>
          <p:nvPr/>
        </p:nvSpPr>
        <p:spPr>
          <a:xfrm>
            <a:off x="548640" y="1874520"/>
            <a:ext cx="11091672" cy="12801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5000"/>
              </a:srgbClr>
            </a:outerShdw>
          </a:effectLst>
        </p:spPr>
      </p:sp>
      <p:sp>
        <p:nvSpPr>
          <p:cNvPr id="7" name="Shape 5"/>
          <p:cNvSpPr/>
          <p:nvPr/>
        </p:nvSpPr>
        <p:spPr>
          <a:xfrm>
            <a:off x="548640" y="1874520"/>
            <a:ext cx="457200" cy="1280160"/>
          </a:xfrm>
          <a:prstGeom prst="rect">
            <a:avLst/>
          </a:prstGeom>
          <a:solidFill>
            <a:srgbClr val="E11D48"/>
          </a:solidFill>
          <a:ln/>
        </p:spPr>
      </p:sp>
      <p:sp>
        <p:nvSpPr>
          <p:cNvPr id="8" name="Text 6"/>
          <p:cNvSpPr/>
          <p:nvPr/>
        </p:nvSpPr>
        <p:spPr>
          <a:xfrm>
            <a:off x="548640" y="1874520"/>
            <a:ext cx="457200" cy="128016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01</a:t>
            </a:r>
            <a:endParaRPr lang="en-US" sz="2800" dirty="0"/>
          </a:p>
        </p:txBody>
      </p:sp>
      <p:sp>
        <p:nvSpPr>
          <p:cNvPr id="9" name="Text 7"/>
          <p:cNvSpPr/>
          <p:nvPr/>
        </p:nvSpPr>
        <p:spPr>
          <a:xfrm>
            <a:off x="1188720" y="2011680"/>
            <a:ext cx="1033272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Single-node deployment</a:t>
            </a:r>
            <a:endParaRPr lang="en-US" sz="1700" dirty="0"/>
          </a:p>
        </p:txBody>
      </p:sp>
      <p:sp>
        <p:nvSpPr>
          <p:cNvPr id="10" name="Text 8"/>
          <p:cNvSpPr/>
          <p:nvPr/>
        </p:nvSpPr>
        <p:spPr>
          <a:xfrm>
            <a:off x="1188720" y="2377440"/>
            <a:ext cx="10332720" cy="777240"/>
          </a:xfrm>
          <a:prstGeom prst="rect">
            <a:avLst/>
          </a:prstGeom>
          <a:noFill/>
          <a:ln/>
        </p:spPr>
        <p:txBody>
          <a:bodyPr wrap="square" lIns="0" tIns="0" rIns="0" bIns="0" rtlCol="0" anchor="ctr"/>
          <a:lstStyle/>
          <a:p>
            <a:pPr indent="0" marL="0">
              <a:spcAft>
                <a:spcPts val="300"/>
              </a:spcAft>
              <a:buNone/>
            </a:pPr>
            <a:r>
              <a:rPr lang="en-US" sz="1200" b="1" dirty="0">
                <a:solidFill>
                  <a:srgbClr val="E11D48"/>
                </a:solidFill>
                <a:latin typeface="Calibri" pitchFamily="34" charset="0"/>
                <a:ea typeface="Calibri" pitchFamily="34" charset="-122"/>
                <a:cs typeface="Calibri" pitchFamily="34" charset="-120"/>
              </a:rPr>
              <a:t>Vấn đề:  </a:t>
            </a:r>
            <a:pPr indent="0" marL="0">
              <a:spcAft>
                <a:spcPts val="300"/>
              </a:spcAft>
              <a:buNone/>
            </a:pPr>
            <a:r>
              <a:rPr lang="en-US" sz="1200" dirty="0">
                <a:solidFill>
                  <a:srgbClr val="0F172A"/>
                </a:solidFill>
                <a:latin typeface="Calibri" pitchFamily="34" charset="0"/>
                <a:ea typeface="Calibri" pitchFamily="34" charset="-122"/>
                <a:cs typeface="Calibri" pitchFamily="34" charset="-120"/>
              </a:rPr>
              <a:t>1 broker Kafka, 1 ClickHouse, 1 Postgres — single point of failure.</a:t>
            </a:r>
            <a:endParaRPr lang="en-US" sz="1200" dirty="0"/>
          </a:p>
          <a:p>
            <a:pPr indent="0" marL="0">
              <a:spcAft>
                <a:spcPts val="300"/>
              </a:spcAft>
              <a:buNone/>
            </a:pPr>
            <a:r>
              <a:rPr lang="en-US" sz="1200" b="1" dirty="0">
                <a:solidFill>
                  <a:srgbClr val="10B981"/>
                </a:solidFill>
                <a:latin typeface="Calibri" pitchFamily="34" charset="0"/>
                <a:ea typeface="Calibri" pitchFamily="34" charset="-122"/>
                <a:cs typeface="Calibri" pitchFamily="34" charset="-120"/>
              </a:rPr>
              <a:t>Khắc phục:  </a:t>
            </a:r>
            <a:pPr indent="0" marL="0">
              <a:spcAft>
                <a:spcPts val="300"/>
              </a:spcAft>
              <a:buNone/>
            </a:pPr>
            <a:r>
              <a:rPr lang="en-US" sz="1200" i="1" dirty="0">
                <a:solidFill>
                  <a:srgbClr val="64748B"/>
                </a:solidFill>
                <a:latin typeface="Calibri" pitchFamily="34" charset="0"/>
                <a:ea typeface="Calibri" pitchFamily="34" charset="-122"/>
                <a:cs typeface="Calibri" pitchFamily="34" charset="-120"/>
              </a:rPr>
              <a:t>Production cần cluster ≥3 node, RF=3, ZooKeeper ensemble. ClickHouse replicated MergeTree.</a:t>
            </a:r>
            <a:endParaRPr lang="en-US" sz="1200" dirty="0"/>
          </a:p>
        </p:txBody>
      </p:sp>
      <p:sp>
        <p:nvSpPr>
          <p:cNvPr id="11" name="Shape 9"/>
          <p:cNvSpPr/>
          <p:nvPr/>
        </p:nvSpPr>
        <p:spPr>
          <a:xfrm>
            <a:off x="548640" y="3291840"/>
            <a:ext cx="11091672" cy="12801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5000"/>
              </a:srgbClr>
            </a:outerShdw>
          </a:effectLst>
        </p:spPr>
      </p:sp>
      <p:sp>
        <p:nvSpPr>
          <p:cNvPr id="12" name="Shape 10"/>
          <p:cNvSpPr/>
          <p:nvPr/>
        </p:nvSpPr>
        <p:spPr>
          <a:xfrm>
            <a:off x="548640" y="3291840"/>
            <a:ext cx="457200" cy="1280160"/>
          </a:xfrm>
          <a:prstGeom prst="rect">
            <a:avLst/>
          </a:prstGeom>
          <a:solidFill>
            <a:srgbClr val="F59E0B"/>
          </a:solidFill>
          <a:ln/>
        </p:spPr>
      </p:sp>
      <p:sp>
        <p:nvSpPr>
          <p:cNvPr id="13" name="Text 11"/>
          <p:cNvSpPr/>
          <p:nvPr/>
        </p:nvSpPr>
        <p:spPr>
          <a:xfrm>
            <a:off x="548640" y="3291840"/>
            <a:ext cx="457200" cy="128016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02</a:t>
            </a:r>
            <a:endParaRPr lang="en-US" sz="2800" dirty="0"/>
          </a:p>
        </p:txBody>
      </p:sp>
      <p:sp>
        <p:nvSpPr>
          <p:cNvPr id="14" name="Text 12"/>
          <p:cNvSpPr/>
          <p:nvPr/>
        </p:nvSpPr>
        <p:spPr>
          <a:xfrm>
            <a:off x="1188720" y="3429000"/>
            <a:ext cx="1033272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Anomaly detection rule-based</a:t>
            </a:r>
            <a:endParaRPr lang="en-US" sz="1700" dirty="0"/>
          </a:p>
        </p:txBody>
      </p:sp>
      <p:sp>
        <p:nvSpPr>
          <p:cNvPr id="15" name="Text 13"/>
          <p:cNvSpPr/>
          <p:nvPr/>
        </p:nvSpPr>
        <p:spPr>
          <a:xfrm>
            <a:off x="1188720" y="3794760"/>
            <a:ext cx="10332720" cy="777240"/>
          </a:xfrm>
          <a:prstGeom prst="rect">
            <a:avLst/>
          </a:prstGeom>
          <a:noFill/>
          <a:ln/>
        </p:spPr>
        <p:txBody>
          <a:bodyPr wrap="square" lIns="0" tIns="0" rIns="0" bIns="0" rtlCol="0" anchor="ctr"/>
          <a:lstStyle/>
          <a:p>
            <a:pPr indent="0" marL="0">
              <a:spcAft>
                <a:spcPts val="300"/>
              </a:spcAft>
              <a:buNone/>
            </a:pPr>
            <a:r>
              <a:rPr lang="en-US" sz="1200" b="1" dirty="0">
                <a:solidFill>
                  <a:srgbClr val="F59E0B"/>
                </a:solidFill>
                <a:latin typeface="Calibri" pitchFamily="34" charset="0"/>
                <a:ea typeface="Calibri" pitchFamily="34" charset="-122"/>
                <a:cs typeface="Calibri" pitchFamily="34" charset="-120"/>
              </a:rPr>
              <a:t>Vấn đề:  </a:t>
            </a:r>
            <a:pPr indent="0" marL="0">
              <a:spcAft>
                <a:spcPts val="300"/>
              </a:spcAft>
              <a:buNone/>
            </a:pPr>
            <a:r>
              <a:rPr lang="en-US" sz="1200" dirty="0">
                <a:solidFill>
                  <a:srgbClr val="0F172A"/>
                </a:solidFill>
                <a:latin typeface="Calibri" pitchFamily="34" charset="0"/>
                <a:ea typeface="Calibri" pitchFamily="34" charset="-122"/>
                <a:cs typeface="Calibri" pitchFamily="34" charset="-120"/>
              </a:rPr>
              <a:t>4 rule cố định, sót pattern phức tạp (synthetic identity, slow drift).</a:t>
            </a:r>
            <a:endParaRPr lang="en-US" sz="1200" dirty="0"/>
          </a:p>
          <a:p>
            <a:pPr indent="0" marL="0">
              <a:spcAft>
                <a:spcPts val="300"/>
              </a:spcAft>
              <a:buNone/>
            </a:pPr>
            <a:r>
              <a:rPr lang="en-US" sz="1200" b="1" dirty="0">
                <a:solidFill>
                  <a:srgbClr val="10B981"/>
                </a:solidFill>
                <a:latin typeface="Calibri" pitchFamily="34" charset="0"/>
                <a:ea typeface="Calibri" pitchFamily="34" charset="-122"/>
                <a:cs typeface="Calibri" pitchFamily="34" charset="-120"/>
              </a:rPr>
              <a:t>Khắc phục:  </a:t>
            </a:r>
            <a:pPr indent="0" marL="0">
              <a:spcAft>
                <a:spcPts val="300"/>
              </a:spcAft>
              <a:buNone/>
            </a:pPr>
            <a:r>
              <a:rPr lang="en-US" sz="1200" i="1" dirty="0">
                <a:solidFill>
                  <a:srgbClr val="64748B"/>
                </a:solidFill>
                <a:latin typeface="Calibri" pitchFamily="34" charset="0"/>
                <a:ea typeface="Calibri" pitchFamily="34" charset="-122"/>
                <a:cs typeface="Calibri" pitchFamily="34" charset="-120"/>
              </a:rPr>
              <a:t>Tích hợp ML: Isolation Forest, XGBoost với feature engineering từ ClickHouse aggregate.</a:t>
            </a:r>
            <a:endParaRPr lang="en-US" sz="1200" dirty="0"/>
          </a:p>
        </p:txBody>
      </p:sp>
      <p:sp>
        <p:nvSpPr>
          <p:cNvPr id="16" name="Shape 14"/>
          <p:cNvSpPr/>
          <p:nvPr/>
        </p:nvSpPr>
        <p:spPr>
          <a:xfrm>
            <a:off x="548640" y="4709160"/>
            <a:ext cx="11091672" cy="128016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5000"/>
              </a:srgbClr>
            </a:outerShdw>
          </a:effectLst>
        </p:spPr>
      </p:sp>
      <p:sp>
        <p:nvSpPr>
          <p:cNvPr id="17" name="Shape 15"/>
          <p:cNvSpPr/>
          <p:nvPr/>
        </p:nvSpPr>
        <p:spPr>
          <a:xfrm>
            <a:off x="548640" y="4709160"/>
            <a:ext cx="457200" cy="1280160"/>
          </a:xfrm>
          <a:prstGeom prst="rect">
            <a:avLst/>
          </a:prstGeom>
          <a:solidFill>
            <a:srgbClr val="1E40AF"/>
          </a:solidFill>
          <a:ln/>
        </p:spPr>
      </p:sp>
      <p:sp>
        <p:nvSpPr>
          <p:cNvPr id="18" name="Text 16"/>
          <p:cNvSpPr/>
          <p:nvPr/>
        </p:nvSpPr>
        <p:spPr>
          <a:xfrm>
            <a:off x="548640" y="4709160"/>
            <a:ext cx="457200" cy="1280160"/>
          </a:xfrm>
          <a:prstGeom prst="rect">
            <a:avLst/>
          </a:prstGeom>
          <a:noFill/>
          <a:ln/>
        </p:spPr>
        <p:txBody>
          <a:bodyPr wrap="square" lIns="0" tIns="0" rIns="0" bIns="0"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03</a:t>
            </a:r>
            <a:endParaRPr lang="en-US" sz="2800" dirty="0"/>
          </a:p>
        </p:txBody>
      </p:sp>
      <p:sp>
        <p:nvSpPr>
          <p:cNvPr id="19" name="Text 17"/>
          <p:cNvSpPr/>
          <p:nvPr/>
        </p:nvSpPr>
        <p:spPr>
          <a:xfrm>
            <a:off x="1188720" y="4846320"/>
            <a:ext cx="1033272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Schema evolution thủ công</a:t>
            </a:r>
            <a:endParaRPr lang="en-US" sz="1700" dirty="0"/>
          </a:p>
        </p:txBody>
      </p:sp>
      <p:sp>
        <p:nvSpPr>
          <p:cNvPr id="20" name="Text 18"/>
          <p:cNvSpPr/>
          <p:nvPr/>
        </p:nvSpPr>
        <p:spPr>
          <a:xfrm>
            <a:off x="1188720" y="5212080"/>
            <a:ext cx="10332720" cy="777240"/>
          </a:xfrm>
          <a:prstGeom prst="rect">
            <a:avLst/>
          </a:prstGeom>
          <a:noFill/>
          <a:ln/>
        </p:spPr>
        <p:txBody>
          <a:bodyPr wrap="square" lIns="0" tIns="0" rIns="0" bIns="0" rtlCol="0" anchor="ctr"/>
          <a:lstStyle/>
          <a:p>
            <a:pPr indent="0" marL="0">
              <a:spcAft>
                <a:spcPts val="300"/>
              </a:spcAft>
              <a:buNone/>
            </a:pPr>
            <a:r>
              <a:rPr lang="en-US" sz="1200" b="1" dirty="0">
                <a:solidFill>
                  <a:srgbClr val="1E40AF"/>
                </a:solidFill>
                <a:latin typeface="Calibri" pitchFamily="34" charset="0"/>
                <a:ea typeface="Calibri" pitchFamily="34" charset="-122"/>
                <a:cs typeface="Calibri" pitchFamily="34" charset="-120"/>
              </a:rPr>
              <a:t>Vấn đề:  </a:t>
            </a:r>
            <a:pPr indent="0" marL="0">
              <a:spcAft>
                <a:spcPts val="300"/>
              </a:spcAft>
              <a:buNone/>
            </a:pPr>
            <a:r>
              <a:rPr lang="en-US" sz="1200" dirty="0">
                <a:solidFill>
                  <a:srgbClr val="0F172A"/>
                </a:solidFill>
                <a:latin typeface="Calibri" pitchFamily="34" charset="0"/>
                <a:ea typeface="Calibri" pitchFamily="34" charset="-122"/>
                <a:cs typeface="Calibri" pitchFamily="34" charset="-120"/>
              </a:rPr>
              <a:t>Thêm cột Postgres không tự đổi schema ClickHouse + MV → phải ALTER thủ công.</a:t>
            </a:r>
            <a:endParaRPr lang="en-US" sz="1200" dirty="0"/>
          </a:p>
          <a:p>
            <a:pPr indent="0" marL="0">
              <a:spcAft>
                <a:spcPts val="300"/>
              </a:spcAft>
              <a:buNone/>
            </a:pPr>
            <a:r>
              <a:rPr lang="en-US" sz="1200" b="1" dirty="0">
                <a:solidFill>
                  <a:srgbClr val="10B981"/>
                </a:solidFill>
                <a:latin typeface="Calibri" pitchFamily="34" charset="0"/>
                <a:ea typeface="Calibri" pitchFamily="34" charset="-122"/>
                <a:cs typeface="Calibri" pitchFamily="34" charset="-120"/>
              </a:rPr>
              <a:t>Khắc phục:  </a:t>
            </a:r>
            <a:pPr indent="0" marL="0">
              <a:spcAft>
                <a:spcPts val="300"/>
              </a:spcAft>
              <a:buNone/>
            </a:pPr>
            <a:r>
              <a:rPr lang="en-US" sz="1200" i="1" dirty="0">
                <a:solidFill>
                  <a:srgbClr val="64748B"/>
                </a:solidFill>
                <a:latin typeface="Calibri" pitchFamily="34" charset="0"/>
                <a:ea typeface="Calibri" pitchFamily="34" charset="-122"/>
                <a:cs typeface="Calibri" pitchFamily="34" charset="-120"/>
              </a:rPr>
              <a:t>Avro + Schema Registry với compatibility mode. Auto-migration tool ở CI/CD.</a:t>
            </a:r>
            <a:endParaRPr lang="en-US" sz="1200" dirty="0"/>
          </a:p>
        </p:txBody>
      </p:sp>
      <p:sp>
        <p:nvSpPr>
          <p:cNvPr id="21" name="Shape 19"/>
          <p:cNvSpPr/>
          <p:nvPr/>
        </p:nvSpPr>
        <p:spPr>
          <a:xfrm>
            <a:off x="457200" y="6537960"/>
            <a:ext cx="11274552" cy="4572"/>
          </a:xfrm>
          <a:prstGeom prst="rect">
            <a:avLst/>
          </a:prstGeom>
          <a:solidFill>
            <a:srgbClr val="E2E8F0"/>
          </a:solidFill>
          <a:ln/>
        </p:spPr>
      </p:sp>
      <p:sp>
        <p:nvSpPr>
          <p:cNvPr id="22" name="Text 20"/>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3" name="Text 21"/>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05 · Hướng phát triển</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Roadmap tiếp theo</a:t>
            </a:r>
            <a:endParaRPr lang="en-US" sz="3000" dirty="0"/>
          </a:p>
        </p:txBody>
      </p:sp>
      <p:sp>
        <p:nvSpPr>
          <p:cNvPr id="5" name="Text 3"/>
          <p:cNvSpPr/>
          <p:nvPr/>
        </p:nvSpPr>
        <p:spPr>
          <a:xfrm>
            <a:off x="548640" y="1417320"/>
            <a:ext cx="10972800" cy="27432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3 hướng nâng cấp — từ proof-of-concept lên production-grade</a:t>
            </a:r>
            <a:endParaRPr lang="en-US" sz="1300" dirty="0"/>
          </a:p>
        </p:txBody>
      </p:sp>
      <p:sp>
        <p:nvSpPr>
          <p:cNvPr id="6" name="Shape 4"/>
          <p:cNvSpPr/>
          <p:nvPr/>
        </p:nvSpPr>
        <p:spPr>
          <a:xfrm>
            <a:off x="548640" y="1920240"/>
            <a:ext cx="3611880" cy="4297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7" name="Shape 5"/>
          <p:cNvSpPr/>
          <p:nvPr/>
        </p:nvSpPr>
        <p:spPr>
          <a:xfrm>
            <a:off x="548640" y="1920240"/>
            <a:ext cx="3611880" cy="548640"/>
          </a:xfrm>
          <a:prstGeom prst="rect">
            <a:avLst/>
          </a:prstGeom>
          <a:solidFill>
            <a:srgbClr val="1E40AF"/>
          </a:solidFill>
          <a:ln/>
        </p:spPr>
      </p:sp>
      <p:sp>
        <p:nvSpPr>
          <p:cNvPr id="8" name="Text 6"/>
          <p:cNvSpPr/>
          <p:nvPr/>
        </p:nvSpPr>
        <p:spPr>
          <a:xfrm>
            <a:off x="731520" y="2011680"/>
            <a:ext cx="3246120" cy="365760"/>
          </a:xfrm>
          <a:prstGeom prst="rect">
            <a:avLst/>
          </a:prstGeom>
          <a:noFill/>
          <a:ln/>
        </p:spPr>
        <p:txBody>
          <a:bodyPr wrap="square" lIns="0" tIns="0" rIns="0" bIns="0" rtlCol="0" anchor="ctr"/>
          <a:lstStyle/>
          <a:p>
            <a:pPr indent="0" marL="0">
              <a:buNone/>
            </a:pPr>
            <a:r>
              <a:rPr lang="en-US" sz="1300" b="1" spc="400" kern="0" dirty="0">
                <a:solidFill>
                  <a:srgbClr val="F8FAFC"/>
                </a:solidFill>
                <a:latin typeface="Calibri" pitchFamily="34" charset="0"/>
                <a:ea typeface="Calibri" pitchFamily="34" charset="-122"/>
                <a:cs typeface="Calibri" pitchFamily="34" charset="-120"/>
              </a:rPr>
              <a:t>Q3 2026</a:t>
            </a:r>
            <a:endParaRPr lang="en-US" sz="1300" dirty="0"/>
          </a:p>
        </p:txBody>
      </p:sp>
      <p:sp>
        <p:nvSpPr>
          <p:cNvPr id="9" name="Text 7"/>
          <p:cNvSpPr/>
          <p:nvPr/>
        </p:nvSpPr>
        <p:spPr>
          <a:xfrm>
            <a:off x="731520" y="2606040"/>
            <a:ext cx="32461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Production HA cluster</a:t>
            </a:r>
            <a:endParaRPr lang="en-US" sz="1800" dirty="0"/>
          </a:p>
        </p:txBody>
      </p:sp>
      <p:sp>
        <p:nvSpPr>
          <p:cNvPr id="10" name="Text 8"/>
          <p:cNvSpPr/>
          <p:nvPr/>
        </p:nvSpPr>
        <p:spPr>
          <a:xfrm>
            <a:off x="731520" y="3154680"/>
            <a:ext cx="3246120" cy="29260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Kafka 3 broker + RF=3</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ClickHouse replicated MergeTree + ZooKeeper coordination</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PostgreSQL primary + 2 standby + pgBouncer pool</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TLS, ACL, secret management qua Vault</a:t>
            </a:r>
            <a:endParaRPr lang="en-US" sz="1200" dirty="0"/>
          </a:p>
        </p:txBody>
      </p:sp>
      <p:sp>
        <p:nvSpPr>
          <p:cNvPr id="11" name="Shape 9"/>
          <p:cNvSpPr/>
          <p:nvPr/>
        </p:nvSpPr>
        <p:spPr>
          <a:xfrm>
            <a:off x="4297680" y="1920240"/>
            <a:ext cx="3611880" cy="4297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2" name="Shape 10"/>
          <p:cNvSpPr/>
          <p:nvPr/>
        </p:nvSpPr>
        <p:spPr>
          <a:xfrm>
            <a:off x="4297680" y="1920240"/>
            <a:ext cx="3611880" cy="548640"/>
          </a:xfrm>
          <a:prstGeom prst="rect">
            <a:avLst/>
          </a:prstGeom>
          <a:solidFill>
            <a:srgbClr val="0D9488"/>
          </a:solidFill>
          <a:ln/>
        </p:spPr>
      </p:sp>
      <p:sp>
        <p:nvSpPr>
          <p:cNvPr id="13" name="Text 11"/>
          <p:cNvSpPr/>
          <p:nvPr/>
        </p:nvSpPr>
        <p:spPr>
          <a:xfrm>
            <a:off x="4480560" y="2011680"/>
            <a:ext cx="3246120" cy="365760"/>
          </a:xfrm>
          <a:prstGeom prst="rect">
            <a:avLst/>
          </a:prstGeom>
          <a:noFill/>
          <a:ln/>
        </p:spPr>
        <p:txBody>
          <a:bodyPr wrap="square" lIns="0" tIns="0" rIns="0" bIns="0" rtlCol="0" anchor="ctr"/>
          <a:lstStyle/>
          <a:p>
            <a:pPr indent="0" marL="0">
              <a:buNone/>
            </a:pPr>
            <a:r>
              <a:rPr lang="en-US" sz="1300" b="1" spc="400" kern="0" dirty="0">
                <a:solidFill>
                  <a:srgbClr val="F8FAFC"/>
                </a:solidFill>
                <a:latin typeface="Calibri" pitchFamily="34" charset="0"/>
                <a:ea typeface="Calibri" pitchFamily="34" charset="-122"/>
                <a:cs typeface="Calibri" pitchFamily="34" charset="-120"/>
              </a:rPr>
              <a:t>Q4 2026</a:t>
            </a:r>
            <a:endParaRPr lang="en-US" sz="1300" dirty="0"/>
          </a:p>
        </p:txBody>
      </p:sp>
      <p:sp>
        <p:nvSpPr>
          <p:cNvPr id="14" name="Text 12"/>
          <p:cNvSpPr/>
          <p:nvPr/>
        </p:nvSpPr>
        <p:spPr>
          <a:xfrm>
            <a:off x="4480560" y="2606040"/>
            <a:ext cx="32461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ML-augmented detection</a:t>
            </a:r>
            <a:endParaRPr lang="en-US" sz="1800" dirty="0"/>
          </a:p>
        </p:txBody>
      </p:sp>
      <p:sp>
        <p:nvSpPr>
          <p:cNvPr id="15" name="Text 13"/>
          <p:cNvSpPr/>
          <p:nvPr/>
        </p:nvSpPr>
        <p:spPr>
          <a:xfrm>
            <a:off x="4480560" y="3154680"/>
            <a:ext cx="3246120" cy="29260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Feature pipeline từ ClickHouse aggregate</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Isolation Forest baseline</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XGBoost với data có label từ team risk</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Online learning / model drift monitoring</a:t>
            </a:r>
            <a:endParaRPr lang="en-US" sz="1200" dirty="0"/>
          </a:p>
        </p:txBody>
      </p:sp>
      <p:sp>
        <p:nvSpPr>
          <p:cNvPr id="16" name="Shape 14"/>
          <p:cNvSpPr/>
          <p:nvPr/>
        </p:nvSpPr>
        <p:spPr>
          <a:xfrm>
            <a:off x="8046720" y="1920240"/>
            <a:ext cx="3611880" cy="429768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7" name="Shape 15"/>
          <p:cNvSpPr/>
          <p:nvPr/>
        </p:nvSpPr>
        <p:spPr>
          <a:xfrm>
            <a:off x="8046720" y="1920240"/>
            <a:ext cx="3611880" cy="548640"/>
          </a:xfrm>
          <a:prstGeom prst="rect">
            <a:avLst/>
          </a:prstGeom>
          <a:solidFill>
            <a:srgbClr val="10B981"/>
          </a:solidFill>
          <a:ln/>
        </p:spPr>
      </p:sp>
      <p:sp>
        <p:nvSpPr>
          <p:cNvPr id="18" name="Text 16"/>
          <p:cNvSpPr/>
          <p:nvPr/>
        </p:nvSpPr>
        <p:spPr>
          <a:xfrm>
            <a:off x="8229600" y="2011680"/>
            <a:ext cx="3246120" cy="365760"/>
          </a:xfrm>
          <a:prstGeom prst="rect">
            <a:avLst/>
          </a:prstGeom>
          <a:noFill/>
          <a:ln/>
        </p:spPr>
        <p:txBody>
          <a:bodyPr wrap="square" lIns="0" tIns="0" rIns="0" bIns="0" rtlCol="0" anchor="ctr"/>
          <a:lstStyle/>
          <a:p>
            <a:pPr indent="0" marL="0">
              <a:buNone/>
            </a:pPr>
            <a:r>
              <a:rPr lang="en-US" sz="1300" b="1" spc="400" kern="0" dirty="0">
                <a:solidFill>
                  <a:srgbClr val="F8FAFC"/>
                </a:solidFill>
                <a:latin typeface="Calibri" pitchFamily="34" charset="0"/>
                <a:ea typeface="Calibri" pitchFamily="34" charset="-122"/>
                <a:cs typeface="Calibri" pitchFamily="34" charset="-120"/>
              </a:rPr>
              <a:t>2027</a:t>
            </a:r>
            <a:endParaRPr lang="en-US" sz="1300" dirty="0"/>
          </a:p>
        </p:txBody>
      </p:sp>
      <p:sp>
        <p:nvSpPr>
          <p:cNvPr id="19" name="Text 17"/>
          <p:cNvSpPr/>
          <p:nvPr/>
        </p:nvSpPr>
        <p:spPr>
          <a:xfrm>
            <a:off x="8229600" y="2606040"/>
            <a:ext cx="324612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Multi-tenant + observability</a:t>
            </a:r>
            <a:endParaRPr lang="en-US" sz="1800" dirty="0"/>
          </a:p>
        </p:txBody>
      </p:sp>
      <p:sp>
        <p:nvSpPr>
          <p:cNvPr id="20" name="Text 18"/>
          <p:cNvSpPr/>
          <p:nvPr/>
        </p:nvSpPr>
        <p:spPr>
          <a:xfrm>
            <a:off x="8229600" y="3154680"/>
            <a:ext cx="3246120" cy="29260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Multi-tenant với tenant_id partitioning</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OpenTelemetry tracing toàn pipeline</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Cost monitoring + autoscaling</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Compliance: PCI-DSS audit trail</a:t>
            </a:r>
            <a:endParaRPr lang="en-US" sz="1200" dirty="0"/>
          </a:p>
        </p:txBody>
      </p:sp>
      <p:sp>
        <p:nvSpPr>
          <p:cNvPr id="21" name="Shape 19"/>
          <p:cNvSpPr/>
          <p:nvPr/>
        </p:nvSpPr>
        <p:spPr>
          <a:xfrm>
            <a:off x="457200" y="6537960"/>
            <a:ext cx="11274552" cy="4572"/>
          </a:xfrm>
          <a:prstGeom prst="rect">
            <a:avLst/>
          </a:prstGeom>
          <a:solidFill>
            <a:srgbClr val="E2E8F0"/>
          </a:solidFill>
          <a:ln/>
        </p:spPr>
      </p:sp>
      <p:sp>
        <p:nvSpPr>
          <p:cNvPr id="22" name="Text 20"/>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3" name="Text 21"/>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D9488"/>
          </a:solidFill>
          <a:ln/>
        </p:spPr>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spc="600" kern="0" dirty="0">
                <a:solidFill>
                  <a:srgbClr val="0D9488"/>
                </a:solidFill>
                <a:latin typeface="Calibri" pitchFamily="34" charset="0"/>
                <a:ea typeface="Calibri" pitchFamily="34" charset="-122"/>
                <a:cs typeface="Calibri" pitchFamily="34" charset="-120"/>
              </a:rPr>
              <a:t>05 · Kết luận</a:t>
            </a:r>
            <a:endParaRPr lang="en-US" sz="1300" dirty="0"/>
          </a:p>
        </p:txBody>
      </p:sp>
      <p:sp>
        <p:nvSpPr>
          <p:cNvPr id="4" name="Text 2"/>
          <p:cNvSpPr/>
          <p:nvPr/>
        </p:nvSpPr>
        <p:spPr>
          <a:xfrm>
            <a:off x="548640" y="822960"/>
            <a:ext cx="10972800" cy="64008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Đóng góp của đồ án</a:t>
            </a:r>
            <a:endParaRPr lang="en-US" sz="3000" dirty="0"/>
          </a:p>
        </p:txBody>
      </p:sp>
      <p:sp>
        <p:nvSpPr>
          <p:cNvPr id="5" name="Shape 3"/>
          <p:cNvSpPr/>
          <p:nvPr/>
        </p:nvSpPr>
        <p:spPr>
          <a:xfrm>
            <a:off x="548640" y="1920240"/>
            <a:ext cx="5394960" cy="18745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6" name="Shape 4"/>
          <p:cNvSpPr/>
          <p:nvPr/>
        </p:nvSpPr>
        <p:spPr>
          <a:xfrm>
            <a:off x="822960" y="2194560"/>
            <a:ext cx="640080" cy="640080"/>
          </a:xfrm>
          <a:prstGeom prst="ellipse">
            <a:avLst/>
          </a:prstGeom>
          <a:solidFill>
            <a:srgbClr val="1E40AF"/>
          </a:solidFill>
          <a:ln/>
        </p:spPr>
      </p:sp>
      <p:sp>
        <p:nvSpPr>
          <p:cNvPr id="7" name="Text 5"/>
          <p:cNvSpPr/>
          <p:nvPr/>
        </p:nvSpPr>
        <p:spPr>
          <a:xfrm>
            <a:off x="822960" y="2194560"/>
            <a:ext cx="640080" cy="64008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1600200" y="2148840"/>
            <a:ext cx="4206240" cy="5029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Pipeline open-source end-to-end</a:t>
            </a:r>
            <a:endParaRPr lang="en-US" sz="1500" dirty="0"/>
          </a:p>
        </p:txBody>
      </p:sp>
      <p:sp>
        <p:nvSpPr>
          <p:cNvPr id="9" name="Text 7"/>
          <p:cNvSpPr/>
          <p:nvPr/>
        </p:nvSpPr>
        <p:spPr>
          <a:xfrm>
            <a:off x="1600200" y="2697480"/>
            <a:ext cx="4206240" cy="9601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Tài liệu hóa kỹ — từ Docker Compose đến runbook. Repo GitHub có thể clone chạy trong 5 phút.</a:t>
            </a:r>
            <a:endParaRPr lang="en-US" sz="1100" dirty="0"/>
          </a:p>
        </p:txBody>
      </p:sp>
      <p:sp>
        <p:nvSpPr>
          <p:cNvPr id="10" name="Shape 8"/>
          <p:cNvSpPr/>
          <p:nvPr/>
        </p:nvSpPr>
        <p:spPr>
          <a:xfrm>
            <a:off x="6217920" y="1920240"/>
            <a:ext cx="5394960" cy="18745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1" name="Shape 9"/>
          <p:cNvSpPr/>
          <p:nvPr/>
        </p:nvSpPr>
        <p:spPr>
          <a:xfrm>
            <a:off x="6492240" y="2194560"/>
            <a:ext cx="640080" cy="640080"/>
          </a:xfrm>
          <a:prstGeom prst="ellipse">
            <a:avLst/>
          </a:prstGeom>
          <a:solidFill>
            <a:srgbClr val="0D9488"/>
          </a:solidFill>
          <a:ln/>
        </p:spPr>
      </p:sp>
      <p:sp>
        <p:nvSpPr>
          <p:cNvPr id="12" name="Text 10"/>
          <p:cNvSpPr/>
          <p:nvPr/>
        </p:nvSpPr>
        <p:spPr>
          <a:xfrm>
            <a:off x="6492240" y="2194560"/>
            <a:ext cx="640080" cy="64008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2</a:t>
            </a:r>
            <a:endParaRPr lang="en-US" sz="2400" dirty="0"/>
          </a:p>
        </p:txBody>
      </p:sp>
      <p:sp>
        <p:nvSpPr>
          <p:cNvPr id="13" name="Text 11"/>
          <p:cNvSpPr/>
          <p:nvPr/>
        </p:nvSpPr>
        <p:spPr>
          <a:xfrm>
            <a:off x="7269480" y="2148840"/>
            <a:ext cx="4206240" cy="5029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4 rule fraud detection với F1 trung bình 0.83</a:t>
            </a:r>
            <a:endParaRPr lang="en-US" sz="1500" dirty="0"/>
          </a:p>
        </p:txBody>
      </p:sp>
      <p:sp>
        <p:nvSpPr>
          <p:cNvPr id="14" name="Text 12"/>
          <p:cNvSpPr/>
          <p:nvPr/>
        </p:nvSpPr>
        <p:spPr>
          <a:xfrm>
            <a:off x="7269480" y="2697480"/>
            <a:ext cx="4206240" cy="9601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Bao quát 4 pattern fraud phổ biến (velocity, large, z-score, multi-currency).</a:t>
            </a:r>
            <a:endParaRPr lang="en-US" sz="1100" dirty="0"/>
          </a:p>
        </p:txBody>
      </p:sp>
      <p:sp>
        <p:nvSpPr>
          <p:cNvPr id="15" name="Shape 13"/>
          <p:cNvSpPr/>
          <p:nvPr/>
        </p:nvSpPr>
        <p:spPr>
          <a:xfrm>
            <a:off x="548640" y="4023360"/>
            <a:ext cx="5394960" cy="18745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16" name="Shape 14"/>
          <p:cNvSpPr/>
          <p:nvPr/>
        </p:nvSpPr>
        <p:spPr>
          <a:xfrm>
            <a:off x="822960" y="4297680"/>
            <a:ext cx="640080" cy="640080"/>
          </a:xfrm>
          <a:prstGeom prst="ellipse">
            <a:avLst/>
          </a:prstGeom>
          <a:solidFill>
            <a:srgbClr val="10B981"/>
          </a:solidFill>
          <a:ln/>
        </p:spPr>
      </p:sp>
      <p:sp>
        <p:nvSpPr>
          <p:cNvPr id="17" name="Text 15"/>
          <p:cNvSpPr/>
          <p:nvPr/>
        </p:nvSpPr>
        <p:spPr>
          <a:xfrm>
            <a:off x="822960" y="4297680"/>
            <a:ext cx="640080" cy="64008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3</a:t>
            </a:r>
            <a:endParaRPr lang="en-US" sz="2400" dirty="0"/>
          </a:p>
        </p:txBody>
      </p:sp>
      <p:sp>
        <p:nvSpPr>
          <p:cNvPr id="18" name="Text 16"/>
          <p:cNvSpPr/>
          <p:nvPr/>
        </p:nvSpPr>
        <p:spPr>
          <a:xfrm>
            <a:off x="1600200" y="4251960"/>
            <a:ext cx="4206240" cy="5029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Benchmark cụ thể có số liệu</a:t>
            </a:r>
            <a:endParaRPr lang="en-US" sz="1500" dirty="0"/>
          </a:p>
        </p:txBody>
      </p:sp>
      <p:sp>
        <p:nvSpPr>
          <p:cNvPr id="19" name="Text 17"/>
          <p:cNvSpPr/>
          <p:nvPr/>
        </p:nvSpPr>
        <p:spPr>
          <a:xfrm>
            <a:off x="1600200" y="4800600"/>
            <a:ext cx="4206240" cy="9601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P95 latency 1.8s, peak 950 TPS — có thể so sánh, tham chiếu, mở rộng.</a:t>
            </a:r>
            <a:endParaRPr lang="en-US" sz="1100" dirty="0"/>
          </a:p>
        </p:txBody>
      </p:sp>
      <p:sp>
        <p:nvSpPr>
          <p:cNvPr id="20" name="Shape 18"/>
          <p:cNvSpPr/>
          <p:nvPr/>
        </p:nvSpPr>
        <p:spPr>
          <a:xfrm>
            <a:off x="6217920" y="4023360"/>
            <a:ext cx="5394960" cy="1874520"/>
          </a:xfrm>
          <a:prstGeom prst="rect">
            <a:avLst/>
          </a:prstGeom>
          <a:solidFill>
            <a:srgbClr val="FFFFFF"/>
          </a:solidFill>
          <a:ln w="12700">
            <a:solidFill>
              <a:srgbClr val="E2E8F0"/>
            </a:solidFill>
            <a:prstDash val="solid"/>
          </a:ln>
          <a:effectLst>
            <a:outerShdw sx="100000" sy="100000" kx="0" ky="0" algn="bl" rotWithShape="0" blurRad="76200" dist="25400" dir="5400000">
              <a:srgbClr val="000000">
                <a:alpha val="6000"/>
              </a:srgbClr>
            </a:outerShdw>
          </a:effectLst>
        </p:spPr>
      </p:sp>
      <p:sp>
        <p:nvSpPr>
          <p:cNvPr id="21" name="Shape 19"/>
          <p:cNvSpPr/>
          <p:nvPr/>
        </p:nvSpPr>
        <p:spPr>
          <a:xfrm>
            <a:off x="6492240" y="4297680"/>
            <a:ext cx="640080" cy="640080"/>
          </a:xfrm>
          <a:prstGeom prst="ellipse">
            <a:avLst/>
          </a:prstGeom>
          <a:solidFill>
            <a:srgbClr val="F59E0B"/>
          </a:solidFill>
          <a:ln/>
        </p:spPr>
      </p:sp>
      <p:sp>
        <p:nvSpPr>
          <p:cNvPr id="22" name="Text 20"/>
          <p:cNvSpPr/>
          <p:nvPr/>
        </p:nvSpPr>
        <p:spPr>
          <a:xfrm>
            <a:off x="6492240" y="4297680"/>
            <a:ext cx="640080" cy="640080"/>
          </a:xfrm>
          <a:prstGeom prst="rect">
            <a:avLst/>
          </a:prstGeom>
          <a:noFill/>
          <a:ln/>
        </p:spPr>
        <p:txBody>
          <a:bodyPr wrap="square" lIns="0" tIns="0" rIns="0" bIns="0" rtlCol="0" anchor="ctr"/>
          <a:lstStyle/>
          <a:p>
            <a:pPr algn="ctr" indent="0" marL="0">
              <a:buNone/>
            </a:pPr>
            <a:r>
              <a:rPr lang="en-US" sz="2400" b="1" dirty="0">
                <a:solidFill>
                  <a:srgbClr val="F8FAFC"/>
                </a:solidFill>
                <a:latin typeface="Calibri" pitchFamily="34" charset="0"/>
                <a:ea typeface="Calibri" pitchFamily="34" charset="-122"/>
                <a:cs typeface="Calibri" pitchFamily="34" charset="-120"/>
              </a:rPr>
              <a:t>4</a:t>
            </a:r>
            <a:endParaRPr lang="en-US" sz="2400" dirty="0"/>
          </a:p>
        </p:txBody>
      </p:sp>
      <p:sp>
        <p:nvSpPr>
          <p:cNvPr id="23" name="Text 21"/>
          <p:cNvSpPr/>
          <p:nvPr/>
        </p:nvSpPr>
        <p:spPr>
          <a:xfrm>
            <a:off x="7269480" y="4251960"/>
            <a:ext cx="4206240" cy="5029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Phù hợp ngân hàng nhỏ &amp; fintech VN</a:t>
            </a:r>
            <a:endParaRPr lang="en-US" sz="1500" dirty="0"/>
          </a:p>
        </p:txBody>
      </p:sp>
      <p:sp>
        <p:nvSpPr>
          <p:cNvPr id="24" name="Text 22"/>
          <p:cNvSpPr/>
          <p:nvPr/>
        </p:nvSpPr>
        <p:spPr>
          <a:xfrm>
            <a:off x="7269480" y="4800600"/>
            <a:ext cx="4206240" cy="9601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Chi phí gần như $0 (open-source), triển khai 1 server, không vendor lock-in.</a:t>
            </a:r>
            <a:endParaRPr lang="en-US" sz="1100" dirty="0"/>
          </a:p>
        </p:txBody>
      </p:sp>
      <p:sp>
        <p:nvSpPr>
          <p:cNvPr id="25" name="Shape 23"/>
          <p:cNvSpPr/>
          <p:nvPr/>
        </p:nvSpPr>
        <p:spPr>
          <a:xfrm>
            <a:off x="548640" y="6035040"/>
            <a:ext cx="11091672" cy="411480"/>
          </a:xfrm>
          <a:prstGeom prst="rect">
            <a:avLst/>
          </a:prstGeom>
          <a:solidFill>
            <a:srgbClr val="0F1B3D"/>
          </a:solidFill>
          <a:ln/>
        </p:spPr>
      </p:sp>
      <p:sp>
        <p:nvSpPr>
          <p:cNvPr id="26" name="Text 24"/>
          <p:cNvSpPr/>
          <p:nvPr/>
        </p:nvSpPr>
        <p:spPr>
          <a:xfrm>
            <a:off x="640080" y="6035040"/>
            <a:ext cx="10972800" cy="411480"/>
          </a:xfrm>
          <a:prstGeom prst="rect">
            <a:avLst/>
          </a:prstGeom>
          <a:noFill/>
          <a:ln/>
        </p:spPr>
        <p:txBody>
          <a:bodyPr wrap="square" lIns="0" tIns="0" rIns="0" bIns="0" rtlCol="0" anchor="ctr"/>
          <a:lstStyle/>
          <a:p>
            <a:pPr algn="ctr" indent="0" marL="0">
              <a:buNone/>
            </a:pPr>
            <a:r>
              <a:rPr lang="en-US" sz="1200" i="1" dirty="0">
                <a:solidFill>
                  <a:srgbClr val="F8FAFC"/>
                </a:solidFill>
                <a:latin typeface="Calibri" pitchFamily="34" charset="0"/>
                <a:ea typeface="Calibri" pitchFamily="34" charset="-122"/>
                <a:cs typeface="Calibri" pitchFamily="34" charset="-120"/>
              </a:rPr>
              <a:t>"Đạt cả 4 mục tiêu ban đầu — pipeline real-time, fraud detection có precision/recall đo được, dashboard có alert, tài liệu đầy đủ."</a:t>
            </a:r>
            <a:endParaRPr lang="en-US" sz="1200" dirty="0"/>
          </a:p>
        </p:txBody>
      </p:sp>
      <p:sp>
        <p:nvSpPr>
          <p:cNvPr id="27" name="Shape 25"/>
          <p:cNvSpPr/>
          <p:nvPr/>
        </p:nvSpPr>
        <p:spPr>
          <a:xfrm>
            <a:off x="457200" y="6537960"/>
            <a:ext cx="11274552" cy="4572"/>
          </a:xfrm>
          <a:prstGeom prst="rect">
            <a:avLst/>
          </a:prstGeom>
          <a:solidFill>
            <a:srgbClr val="E2E8F0"/>
          </a:solidFill>
          <a:ln/>
        </p:spPr>
      </p:sp>
      <p:sp>
        <p:nvSpPr>
          <p:cNvPr id="28" name="Text 26"/>
          <p:cNvSpPr/>
          <p:nvPr/>
        </p:nvSpPr>
        <p:spPr>
          <a:xfrm>
            <a:off x="457200" y="6583680"/>
            <a:ext cx="73152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FinWatch · Bùi Hoàng Nhân · VNUK 2026</a:t>
            </a:r>
            <a:endParaRPr lang="en-US" sz="900" dirty="0"/>
          </a:p>
        </p:txBody>
      </p:sp>
      <p:sp>
        <p:nvSpPr>
          <p:cNvPr id="29" name="Text 27"/>
          <p:cNvSpPr/>
          <p:nvPr/>
        </p:nvSpPr>
        <p:spPr>
          <a:xfrm>
            <a:off x="10058400" y="6583680"/>
            <a:ext cx="1673352"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10058400" y="457200"/>
            <a:ext cx="2286000" cy="2286000"/>
          </a:xfrm>
          <a:prstGeom prst="ellipse">
            <a:avLst/>
          </a:prstGeom>
          <a:solidFill>
            <a:srgbClr val="0D9488">
              <a:alpha val="20000"/>
            </a:srgbClr>
          </a:solidFill>
          <a:ln/>
        </p:spPr>
      </p:sp>
      <p:sp>
        <p:nvSpPr>
          <p:cNvPr id="3" name="Shape 1"/>
          <p:cNvSpPr/>
          <p:nvPr/>
        </p:nvSpPr>
        <p:spPr>
          <a:xfrm>
            <a:off x="-457200" y="4572000"/>
            <a:ext cx="2743200" cy="2743200"/>
          </a:xfrm>
          <a:prstGeom prst="ellipse">
            <a:avLst/>
          </a:prstGeom>
          <a:solidFill>
            <a:srgbClr val="1E40AF">
              <a:alpha val="25000"/>
            </a:srgbClr>
          </a:solidFill>
          <a:ln/>
        </p:spPr>
      </p:sp>
      <p:sp>
        <p:nvSpPr>
          <p:cNvPr id="4" name="Text 2"/>
          <p:cNvSpPr/>
          <p:nvPr/>
        </p:nvSpPr>
        <p:spPr>
          <a:xfrm>
            <a:off x="548640" y="1645920"/>
            <a:ext cx="10972800" cy="1645920"/>
          </a:xfrm>
          <a:prstGeom prst="rect">
            <a:avLst/>
          </a:prstGeom>
          <a:noFill/>
          <a:ln/>
        </p:spPr>
        <p:txBody>
          <a:bodyPr wrap="square" lIns="0" tIns="0" rIns="0" bIns="0" rtlCol="0" anchor="ctr"/>
          <a:lstStyle/>
          <a:p>
            <a:pPr algn="ctr" indent="0" marL="0">
              <a:buNone/>
            </a:pPr>
            <a:r>
              <a:rPr lang="en-US" sz="18000" b="1" dirty="0">
                <a:solidFill>
                  <a:srgbClr val="0D9488"/>
                </a:solidFill>
                <a:latin typeface="Calibri" pitchFamily="34" charset="0"/>
                <a:ea typeface="Calibri" pitchFamily="34" charset="-122"/>
                <a:cs typeface="Calibri" pitchFamily="34" charset="-120"/>
              </a:rPr>
              <a:t>Q &amp; A</a:t>
            </a:r>
            <a:endParaRPr lang="en-US" sz="18000" dirty="0"/>
          </a:p>
        </p:txBody>
      </p:sp>
      <p:sp>
        <p:nvSpPr>
          <p:cNvPr id="5" name="Text 3"/>
          <p:cNvSpPr/>
          <p:nvPr/>
        </p:nvSpPr>
        <p:spPr>
          <a:xfrm>
            <a:off x="548640" y="3657600"/>
            <a:ext cx="10972800" cy="548640"/>
          </a:xfrm>
          <a:prstGeom prst="rect">
            <a:avLst/>
          </a:prstGeom>
          <a:noFill/>
          <a:ln/>
        </p:spPr>
        <p:txBody>
          <a:bodyPr wrap="square" lIns="0" tIns="0" rIns="0" bIns="0" rtlCol="0" anchor="ctr"/>
          <a:lstStyle/>
          <a:p>
            <a:pPr algn="ctr" indent="0" marL="0">
              <a:buNone/>
            </a:pPr>
            <a:r>
              <a:rPr lang="en-US" sz="2800" dirty="0">
                <a:solidFill>
                  <a:srgbClr val="F8FAFC"/>
                </a:solidFill>
                <a:latin typeface="Calibri" pitchFamily="34" charset="0"/>
                <a:ea typeface="Calibri" pitchFamily="34" charset="-122"/>
                <a:cs typeface="Calibri" pitchFamily="34" charset="-120"/>
              </a:rPr>
              <a:t>Em xin cảm ơn hội đồng đã lắng nghe</a:t>
            </a:r>
            <a:endParaRPr lang="en-US" sz="2800" dirty="0"/>
          </a:p>
        </p:txBody>
      </p:sp>
      <p:sp>
        <p:nvSpPr>
          <p:cNvPr id="6" name="Text 4"/>
          <p:cNvSpPr/>
          <p:nvPr/>
        </p:nvSpPr>
        <p:spPr>
          <a:xfrm>
            <a:off x="548640" y="4297680"/>
            <a:ext cx="10972800" cy="457200"/>
          </a:xfrm>
          <a:prstGeom prst="rect">
            <a:avLst/>
          </a:prstGeom>
          <a:noFill/>
          <a:ln/>
        </p:spPr>
        <p:txBody>
          <a:bodyPr wrap="square" lIns="0" tIns="0" rIns="0" bIns="0" rtlCol="0" anchor="ctr"/>
          <a:lstStyle/>
          <a:p>
            <a:pPr algn="ctr" indent="0" marL="0">
              <a:buNone/>
            </a:pPr>
            <a:r>
              <a:rPr lang="en-US" sz="1800" i="1" dirty="0">
                <a:solidFill>
                  <a:srgbClr val="94A3B8"/>
                </a:solidFill>
                <a:latin typeface="Calibri" pitchFamily="34" charset="0"/>
                <a:ea typeface="Calibri" pitchFamily="34" charset="-122"/>
                <a:cs typeface="Calibri" pitchFamily="34" charset="-120"/>
              </a:rPr>
              <a:t>Em sẵn sàng nhận câu hỏi</a:t>
            </a:r>
            <a:endParaRPr lang="en-US" sz="1800" dirty="0"/>
          </a:p>
        </p:txBody>
      </p:sp>
      <p:sp>
        <p:nvSpPr>
          <p:cNvPr id="7" name="Shape 5"/>
          <p:cNvSpPr/>
          <p:nvPr/>
        </p:nvSpPr>
        <p:spPr>
          <a:xfrm>
            <a:off x="548640" y="5486400"/>
            <a:ext cx="11091672" cy="822960"/>
          </a:xfrm>
          <a:prstGeom prst="rect">
            <a:avLst/>
          </a:prstGeom>
          <a:solidFill>
            <a:srgbClr val="FFFFFF">
              <a:alpha val="5000"/>
            </a:srgbClr>
          </a:solidFill>
          <a:ln/>
        </p:spPr>
      </p:sp>
      <p:sp>
        <p:nvSpPr>
          <p:cNvPr id="8" name="Text 6"/>
          <p:cNvSpPr/>
          <p:nvPr/>
        </p:nvSpPr>
        <p:spPr>
          <a:xfrm>
            <a:off x="731520" y="5577840"/>
            <a:ext cx="27432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Source code</a:t>
            </a:r>
            <a:endParaRPr lang="en-US" sz="1000" dirty="0"/>
          </a:p>
        </p:txBody>
      </p:sp>
      <p:sp>
        <p:nvSpPr>
          <p:cNvPr id="9" name="Text 7"/>
          <p:cNvSpPr/>
          <p:nvPr/>
        </p:nvSpPr>
        <p:spPr>
          <a:xfrm>
            <a:off x="731520" y="5852160"/>
            <a:ext cx="2743200" cy="365760"/>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github.com/...../finwatch</a:t>
            </a:r>
            <a:endParaRPr lang="en-US" sz="1200" dirty="0"/>
          </a:p>
        </p:txBody>
      </p:sp>
      <p:sp>
        <p:nvSpPr>
          <p:cNvPr id="10" name="Text 8"/>
          <p:cNvSpPr/>
          <p:nvPr/>
        </p:nvSpPr>
        <p:spPr>
          <a:xfrm>
            <a:off x="3520440" y="5577840"/>
            <a:ext cx="27432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Video demo</a:t>
            </a:r>
            <a:endParaRPr lang="en-US" sz="1000" dirty="0"/>
          </a:p>
        </p:txBody>
      </p:sp>
      <p:sp>
        <p:nvSpPr>
          <p:cNvPr id="11" name="Text 9"/>
          <p:cNvSpPr/>
          <p:nvPr/>
        </p:nvSpPr>
        <p:spPr>
          <a:xfrm>
            <a:off x="3520440" y="5852160"/>
            <a:ext cx="2743200" cy="365760"/>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Đã đính kèm USB</a:t>
            </a:r>
            <a:endParaRPr lang="en-US" sz="1200" dirty="0"/>
          </a:p>
        </p:txBody>
      </p:sp>
      <p:sp>
        <p:nvSpPr>
          <p:cNvPr id="12" name="Text 10"/>
          <p:cNvSpPr/>
          <p:nvPr/>
        </p:nvSpPr>
        <p:spPr>
          <a:xfrm>
            <a:off x="6309360" y="5577840"/>
            <a:ext cx="27432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Tài liệu</a:t>
            </a:r>
            <a:endParaRPr lang="en-US" sz="1000" dirty="0"/>
          </a:p>
        </p:txBody>
      </p:sp>
      <p:sp>
        <p:nvSpPr>
          <p:cNvPr id="13" name="Text 11"/>
          <p:cNvSpPr/>
          <p:nvPr/>
        </p:nvSpPr>
        <p:spPr>
          <a:xfrm>
            <a:off x="6309360" y="5852160"/>
            <a:ext cx="2743200" cy="365760"/>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60 trang + runbook</a:t>
            </a:r>
            <a:endParaRPr lang="en-US" sz="1200" dirty="0"/>
          </a:p>
        </p:txBody>
      </p:sp>
      <p:sp>
        <p:nvSpPr>
          <p:cNvPr id="14" name="Text 12"/>
          <p:cNvSpPr/>
          <p:nvPr/>
        </p:nvSpPr>
        <p:spPr>
          <a:xfrm>
            <a:off x="9098280" y="5577840"/>
            <a:ext cx="27432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Email</a:t>
            </a:r>
            <a:endParaRPr lang="en-US" sz="1000" dirty="0"/>
          </a:p>
        </p:txBody>
      </p:sp>
      <p:sp>
        <p:nvSpPr>
          <p:cNvPr id="15" name="Text 13"/>
          <p:cNvSpPr/>
          <p:nvPr/>
        </p:nvSpPr>
        <p:spPr>
          <a:xfrm>
            <a:off x="9098280" y="5852160"/>
            <a:ext cx="2743200" cy="365760"/>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phong.bui@parcelperform.com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FinWatch — Defense Presentation</dc:title>
  <dc:subject>Graduate Project Defense</dc:subject>
  <dc:creator>Bùi Hoàng Nhân</dc:creator>
  <cp:lastModifiedBy>Bùi Hoàng Nhân</cp:lastModifiedBy>
  <cp:revision>1</cp:revision>
  <dcterms:created xsi:type="dcterms:W3CDTF">2026-05-19T09:12:47Z</dcterms:created>
  <dcterms:modified xsi:type="dcterms:W3CDTF">2026-05-19T09:12:47Z</dcterms:modified>
</cp:coreProperties>
</file>